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6eb12c4cc94436" /><Relationship Type="http://schemas.openxmlformats.org/officeDocument/2006/relationships/extended-properties" Target="/docProps/app.xml" Id="R0f6769300ec94100" /><Relationship Type="http://schemas.openxmlformats.org/officeDocument/2006/relationships/officeDocument" Target="/ppt/presentation.xml" Id="R0997fd5827df45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678baf5613454d"/>
  </p:sldMasterIdLst>
  <p:notesMasterIdLst>
    <p:notesMasterId xmlns:r="http://schemas.openxmlformats.org/officeDocument/2006/relationships" r:id="R36fe447b7da34557"/>
  </p:notesMasterIdLst>
  <p:sldIdLst>
    <p:sldId xmlns:r="http://schemas.openxmlformats.org/officeDocument/2006/relationships" id="256" r:id="R19bc303a1a944ca4"/>
    <p:sldId xmlns:r="http://schemas.openxmlformats.org/officeDocument/2006/relationships" id="257" r:id="R02f87ad59d0541c4"/>
    <p:sldId xmlns:r="http://schemas.openxmlformats.org/officeDocument/2006/relationships" id="258" r:id="R7a0cf5796e064e8e"/>
    <p:sldId xmlns:r="http://schemas.openxmlformats.org/officeDocument/2006/relationships" id="259" r:id="R1e274d18281d4ecb"/>
    <p:sldId xmlns:r="http://schemas.openxmlformats.org/officeDocument/2006/relationships" id="260" r:id="R7525cb96918d4600"/>
    <p:sldId xmlns:r="http://schemas.openxmlformats.org/officeDocument/2006/relationships" id="261" r:id="Re63b822c6b7143a2"/>
    <p:sldId xmlns:r="http://schemas.openxmlformats.org/officeDocument/2006/relationships" id="262" r:id="Rdb2284435f374cc3"/>
    <p:sldId xmlns:r="http://schemas.openxmlformats.org/officeDocument/2006/relationships" id="263" r:id="Rfe0e473dba514e58"/>
    <p:sldId xmlns:r="http://schemas.openxmlformats.org/officeDocument/2006/relationships" id="264" r:id="R93660285e7bb4f35"/>
    <p:sldId xmlns:r="http://schemas.openxmlformats.org/officeDocument/2006/relationships" id="265" r:id="R67da7b6442314471"/>
    <p:sldId xmlns:r="http://schemas.openxmlformats.org/officeDocument/2006/relationships" id="266" r:id="R2cd8c21869fd40c3"/>
    <p:sldId xmlns:r="http://schemas.openxmlformats.org/officeDocument/2006/relationships" id="267" r:id="R93d4dcfcebe44f91"/>
    <p:sldId xmlns:r="http://schemas.openxmlformats.org/officeDocument/2006/relationships" id="268" r:id="Rb8921595e9d446bb"/>
    <p:sldId xmlns:r="http://schemas.openxmlformats.org/officeDocument/2006/relationships" id="269" r:id="R606e0010f55b49f0"/>
    <p:sldId xmlns:r="http://schemas.openxmlformats.org/officeDocument/2006/relationships" id="270" r:id="R94fdd2239a9d4131"/>
    <p:sldId xmlns:r="http://schemas.openxmlformats.org/officeDocument/2006/relationships" id="271" r:id="Re18678ffc29a483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126a78820f4552" /><Relationship Type="http://schemas.openxmlformats.org/officeDocument/2006/relationships/slideMaster" Target="/ppt/slideMasters/slideMaster1.xml" Id="Rb5678baf5613454d" /><Relationship Type="http://schemas.openxmlformats.org/officeDocument/2006/relationships/notesMaster" Target="/ppt/notesMasters/notesMaster1.xml" Id="R36fe447b7da34557" /><Relationship Type="http://schemas.openxmlformats.org/officeDocument/2006/relationships/presProps" Target="/ppt/presProps.xml" Id="Rfda6535c8545449a" /><Relationship Type="http://schemas.openxmlformats.org/officeDocument/2006/relationships/tableStyles" Target="/ppt/tableStyles.xml" Id="Rc87aa4f59c824067" /><Relationship Type="http://schemas.openxmlformats.org/officeDocument/2006/relationships/slide" Target="/ppt/slides/slide1.xml" Id="R19bc303a1a944ca4" /><Relationship Type="http://schemas.openxmlformats.org/officeDocument/2006/relationships/slide" Target="/ppt/slides/slide2.xml" Id="R02f87ad59d0541c4" /><Relationship Type="http://schemas.openxmlformats.org/officeDocument/2006/relationships/slide" Target="/ppt/slides/slide3.xml" Id="R7a0cf5796e064e8e" /><Relationship Type="http://schemas.openxmlformats.org/officeDocument/2006/relationships/slide" Target="/ppt/slides/slide4.xml" Id="R1e274d18281d4ecb" /><Relationship Type="http://schemas.openxmlformats.org/officeDocument/2006/relationships/slide" Target="/ppt/slides/slide5.xml" Id="R7525cb96918d4600" /><Relationship Type="http://schemas.openxmlformats.org/officeDocument/2006/relationships/slide" Target="/ppt/slides/slide6.xml" Id="Re63b822c6b7143a2" /><Relationship Type="http://schemas.openxmlformats.org/officeDocument/2006/relationships/slide" Target="/ppt/slides/slide7.xml" Id="Rdb2284435f374cc3" /><Relationship Type="http://schemas.openxmlformats.org/officeDocument/2006/relationships/slide" Target="/ppt/slides/slide8.xml" Id="Rfe0e473dba514e58" /><Relationship Type="http://schemas.openxmlformats.org/officeDocument/2006/relationships/slide" Target="/ppt/slides/slide9.xml" Id="R93660285e7bb4f35" /><Relationship Type="http://schemas.openxmlformats.org/officeDocument/2006/relationships/slide" Target="/ppt/slides/slide10.xml" Id="R67da7b6442314471" /><Relationship Type="http://schemas.openxmlformats.org/officeDocument/2006/relationships/slide" Target="/ppt/slides/slide11.xml" Id="R2cd8c21869fd40c3" /><Relationship Type="http://schemas.openxmlformats.org/officeDocument/2006/relationships/slide" Target="/ppt/slides/slide12.xml" Id="R93d4dcfcebe44f91" /><Relationship Type="http://schemas.openxmlformats.org/officeDocument/2006/relationships/slide" Target="/ppt/slides/slide13.xml" Id="Rb8921595e9d446bb" /><Relationship Type="http://schemas.openxmlformats.org/officeDocument/2006/relationships/slide" Target="/ppt/slides/slide14.xml" Id="R606e0010f55b49f0" /><Relationship Type="http://schemas.openxmlformats.org/officeDocument/2006/relationships/slide" Target="/ppt/slides/slide15.xml" Id="R94fdd2239a9d4131" /><Relationship Type="http://schemas.openxmlformats.org/officeDocument/2006/relationships/slide" Target="/ppt/slides/slide16.xml" Id="Re18678ffc29a48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835a86ece34a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94298c9d8a4111" /><Relationship Type="http://schemas.openxmlformats.org/officeDocument/2006/relationships/notesMaster" Target="/ppt/notesMasters/notesMaster1.xml" Id="R31d25ed168b840b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e7f1fc1acc4a6c" /><Relationship Type="http://schemas.openxmlformats.org/officeDocument/2006/relationships/notesMaster" Target="/ppt/notesMasters/notesMaster1.xml" Id="Rb0269eebe5c947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6d650b665e4a34" /><Relationship Type="http://schemas.openxmlformats.org/officeDocument/2006/relationships/notesMaster" Target="/ppt/notesMasters/notesMaster1.xml" Id="R04838ae01eac46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cc80e4809b4815" /><Relationship Type="http://schemas.openxmlformats.org/officeDocument/2006/relationships/notesMaster" Target="/ppt/notesMasters/notesMaster1.xml" Id="R61a4761c6d4b47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b99207453a4e26" /><Relationship Type="http://schemas.openxmlformats.org/officeDocument/2006/relationships/notesMaster" Target="/ppt/notesMasters/notesMaster1.xml" Id="R3253b482b42b43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a12d6f16414c6d" /><Relationship Type="http://schemas.openxmlformats.org/officeDocument/2006/relationships/notesMaster" Target="/ppt/notesMasters/notesMaster1.xml" Id="Re3502a0cb30747d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4c1c303dd4432f" /><Relationship Type="http://schemas.openxmlformats.org/officeDocument/2006/relationships/notesMaster" Target="/ppt/notesMasters/notesMaster1.xml" Id="R0490148e824d49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68f64468ad47a5" /><Relationship Type="http://schemas.openxmlformats.org/officeDocument/2006/relationships/notesMaster" Target="/ppt/notesMasters/notesMaster1.xml" Id="R72d88b576e9f438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1010ede42344db7" /><Relationship Type="http://schemas.openxmlformats.org/officeDocument/2006/relationships/notesMaster" Target="/ppt/notesMasters/notesMaster1.xml" Id="R235264bb40f14e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c5d401df864372" /><Relationship Type="http://schemas.openxmlformats.org/officeDocument/2006/relationships/notesMaster" Target="/ppt/notesMasters/notesMaster1.xml" Id="Rafe1801598a24ca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3373e74451a439a" /><Relationship Type="http://schemas.openxmlformats.org/officeDocument/2006/relationships/notesMaster" Target="/ppt/notesMasters/notesMaster1.xml" Id="R9bda9453e629471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8d5efcddeb24c01" /><Relationship Type="http://schemas.openxmlformats.org/officeDocument/2006/relationships/notesMaster" Target="/ppt/notesMasters/notesMaster1.xml" Id="R6a7f6936188e447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b07a6c1295e4f6f" /><Relationship Type="http://schemas.openxmlformats.org/officeDocument/2006/relationships/notesMaster" Target="/ppt/notesMasters/notesMaster1.xml" Id="Re688103f97084d1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dbae7336a174441" /><Relationship Type="http://schemas.openxmlformats.org/officeDocument/2006/relationships/notesMaster" Target="/ppt/notesMasters/notesMaster1.xml" Id="Rb29fce4909164f5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74954913a5c4873" /><Relationship Type="http://schemas.openxmlformats.org/officeDocument/2006/relationships/notesMaster" Target="/ppt/notesMasters/notesMaster1.xml" Id="R10cf37e070a74dd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6d52761974847b2" /><Relationship Type="http://schemas.openxmlformats.org/officeDocument/2006/relationships/notesMaster" Target="/ppt/notesMasters/notesMaster1.xml" Id="Ra8cbf1f759b344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CIFAR-10: https://www.cs.toronto.edu/~kriz/cifar.html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Yu &amp; Koltun, 2015: https://arxiv.org/abs/1511.07122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MobileNets: https://arxiv.org/abs/1704.04861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Dai et al., 2017: https://arxiv.org/abs/1703.06211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MNIST: http://yann.lecun.com/exdb/mnist/; скрипт: scripts/make_operator_demo.py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Результаты: outputs_full/metrics.csv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Результаты: outputs_full/metrics.csv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Результаты по эпохам: outputs_full/training_history.csv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Результат: outputs_full/feature_maps.png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Dai et al., 2017: https://arxiv.org/abs/1703.06211; результат: outputs_full/deform_offsets.png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Результаты: outputs_full/metrics.csv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Полные ссылки: research/SOURCES.md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7e7f34cb024d3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507b1becb8461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d066ee98fc44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d92df072be464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73b4eb1e0644c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f8969edb784f2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CCD5DFD-5F74-4103-887A-EFD8632F2C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6529D13-46D3-4131-AF86-6D72042ACDE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6A1CFC0-71CE-4F70-A9F0-59A3526062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03CAEBC-A32D-4141-BD34-A24261E230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A06888E-B75F-4B7C-BFEE-849C56842E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73934E4-2B57-49BC-9254-99DF8F6B63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132B8CF-7FD5-4AE7-9423-9596356CBB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FBBFEC4-99CE-4BF2-8205-BE4D99230D4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9E7D4B-F4D1-4CA1-8A95-FDE3CF93A9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A8295A6-E438-4F9D-9337-DA5875EE7E5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79791b3eff4a3d" /><Relationship Type="http://schemas.openxmlformats.org/officeDocument/2006/relationships/slideLayout" Target="/ppt/slideLayouts/slideLayout1.xml" Id="Rd359bcec1d4845c2" /><Relationship Type="http://schemas.openxmlformats.org/officeDocument/2006/relationships/slideLayout" Target="/ppt/slideLayouts/slideLayout2.xml" Id="R416e440c1097412a" /><Relationship Type="http://schemas.openxmlformats.org/officeDocument/2006/relationships/slideLayout" Target="/ppt/slideLayouts/slideLayout3.xml" Id="Ra7593458e9d244c5" /><Relationship Type="http://schemas.openxmlformats.org/officeDocument/2006/relationships/slideLayout" Target="/ppt/slideLayouts/slideLayout4.xml" Id="R375c7fc0972b4b64" /><Relationship Type="http://schemas.openxmlformats.org/officeDocument/2006/relationships/slideLayout" Target="/ppt/slideLayouts/slideLayout5.xml" Id="Rc6f1b7968d4f4d05" /><Relationship Type="http://schemas.openxmlformats.org/officeDocument/2006/relationships/slideLayout" Target="/ppt/slideLayouts/slideLayout6.xml" Id="R328cced1585b4a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59bcec1d4845c2"/>
    <p:sldLayoutId xmlns:r="http://schemas.openxmlformats.org/officeDocument/2006/relationships" id="2147483650" r:id="R416e440c1097412a"/>
    <p:sldLayoutId xmlns:r="http://schemas.openxmlformats.org/officeDocument/2006/relationships" id="2147483651" r:id="Ra7593458e9d244c5"/>
    <p:sldLayoutId xmlns:r="http://schemas.openxmlformats.org/officeDocument/2006/relationships" id="2147483652" r:id="R375c7fc0972b4b64"/>
    <p:sldLayoutId xmlns:r="http://schemas.openxmlformats.org/officeDocument/2006/relationships" id="2147483653" r:id="Rc6f1b7968d4f4d05"/>
    <p:sldLayoutId xmlns:r="http://schemas.openxmlformats.org/officeDocument/2006/relationships" id="2147483654" r:id="R328cced1585b4a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2616c603aa406c" /><Relationship Type="http://schemas.openxmlformats.org/officeDocument/2006/relationships/notesSlide" Target="/ppt/notesSlides/notesSlide1.xml" Id="Rd77a9f291f734d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92b795eff2444c" /><Relationship Type="http://schemas.openxmlformats.org/officeDocument/2006/relationships/notesSlide" Target="/ppt/notesSlides/notesSlide2.xml" Id="R7ec06f64b72c46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105fd0d3af432d" /><Relationship Type="http://schemas.openxmlformats.org/officeDocument/2006/relationships/notesSlide" Target="/ppt/notesSlides/notesSlide3.xml" Id="R76757eaca20947a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3c65ff9e5e4658" /><Relationship Type="http://schemas.openxmlformats.org/officeDocument/2006/relationships/notesSlide" Target="/ppt/notesSlides/notesSlide4.xml" Id="R39420f7adfd948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2bad4cdf5843eb" /><Relationship Type="http://schemas.openxmlformats.org/officeDocument/2006/relationships/notesSlide" Target="/ppt/notesSlides/notesSlide5.xml" Id="Rb7225a6a80ef4f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27b9f6420143e2" /><Relationship Type="http://schemas.openxmlformats.org/officeDocument/2006/relationships/notesSlide" Target="/ppt/notesSlides/notesSlide6.xml" Id="R528c89e873dc4a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df261fe02143f3" /><Relationship Type="http://schemas.openxmlformats.org/officeDocument/2006/relationships/image" Target="/ppt/media/image.png" Id="R49b8b7c511fd42b5" /><Relationship Type="http://schemas.openxmlformats.org/officeDocument/2006/relationships/notesSlide" Target="/ppt/notesSlides/notesSlide7.xml" Id="R62c870fb70af44f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d107d738db4ba4" /><Relationship Type="http://schemas.openxmlformats.org/officeDocument/2006/relationships/notesSlide" Target="/ppt/notesSlides/notesSlide8.xml" Id="R95d07521d11f44b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18ec47e19d4ded" /><Relationship Type="http://schemas.openxmlformats.org/officeDocument/2006/relationships/chart" Target="/ppt/slides/charts/chart1.xml" Id="R2ccebab8c93948dd" /><Relationship Type="http://schemas.openxmlformats.org/officeDocument/2006/relationships/chart" Target="/ppt/slides/charts/chart2.xml" Id="R94b25d1b019e4a78" /><Relationship Type="http://schemas.openxmlformats.org/officeDocument/2006/relationships/notesSlide" Target="/ppt/notesSlides/notesSlide9.xml" Id="R26f695c7bf5d492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892a93b850422f" /><Relationship Type="http://schemas.openxmlformats.org/officeDocument/2006/relationships/chart" Target="/ppt/slides/charts/chart3.xml" Id="Ree0f5b32391c4311" /><Relationship Type="http://schemas.openxmlformats.org/officeDocument/2006/relationships/notesSlide" Target="/ppt/notesSlides/notesSlide10.xml" Id="R84bb2a5175ec4e0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7cf61bbacc4fcb" /><Relationship Type="http://schemas.openxmlformats.org/officeDocument/2006/relationships/chart" Target="/ppt/slides/charts/chart4.xml" Id="Refd1ace0fe7e43ca" /><Relationship Type="http://schemas.openxmlformats.org/officeDocument/2006/relationships/notesSlide" Target="/ppt/notesSlides/notesSlide11.xml" Id="Rbf5f2d13e3a344a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936323c2e84816" /><Relationship Type="http://schemas.openxmlformats.org/officeDocument/2006/relationships/image" Target="/ppt/media/image2.png" Id="R883a26dabfcf47fe" /><Relationship Type="http://schemas.openxmlformats.org/officeDocument/2006/relationships/notesSlide" Target="/ppt/notesSlides/notesSlide12.xml" Id="R4a08eda93d13446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3183757aad4b49" /><Relationship Type="http://schemas.openxmlformats.org/officeDocument/2006/relationships/image" Target="/ppt/media/image3.png" Id="R8a55d9e4c4ef4a6a" /><Relationship Type="http://schemas.openxmlformats.org/officeDocument/2006/relationships/notesSlide" Target="/ppt/notesSlides/notesSlide13.xml" Id="R2da8a41a99c44b0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cba09419624eba" /><Relationship Type="http://schemas.openxmlformats.org/officeDocument/2006/relationships/notesSlide" Target="/ppt/notesSlides/notesSlide14.xml" Id="Rc625e96d5d994c5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19921735c1432b" /><Relationship Type="http://schemas.openxmlformats.org/officeDocument/2006/relationships/notesSlide" Target="/ppt/notesSlides/notesSlide15.xml" Id="Rf4608bce4172470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ef5aed2f944480" /><Relationship Type="http://schemas.openxmlformats.org/officeDocument/2006/relationships/notesSlide" Target="/ppt/notesSlides/notesSlide16.xml" Id="R168e81944652478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тыс.</c:v>
          </c:tx>
          <c:dPt>
            <c:idx val="0"/>
            <c:invertIfNegative val="0"/>
            <c:spPr>
              <a:solidFill xmlns:a="http://schemas.openxmlformats.org/drawingml/2006/main">
                <a:srgbClr val="2563EB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C3AE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0F9D8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E76F51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Обычная 3×3</c:v>
                </c:pt>
                <c:pt idx="1">
                  <c:v>Dilated d=2</c:v>
                </c:pt>
                <c:pt idx="2">
                  <c:v>Depthwise</c:v>
                </c:pt>
                <c:pt idx="3">
                  <c:v>Deformable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98.97</c:v>
                </c:pt>
                <c:pt idx="1">
                  <c:v>98.97</c:v>
                </c:pt>
                <c:pt idx="2">
                  <c:v>13.96</c:v>
                </c:pt>
                <c:pt idx="3">
                  <c:v>117.39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0">
                  <a:solidFill>
                    <a:srgbClr val="11182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1D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F0"/>
        </a:solidFill>
      </c:spPr>
    </c:plotArea>
    <c:plotVisOnly val="1"/>
  </c:chart>
  <c:spPr>
    <a:solidFill xmlns:a="http://schemas.openxmlformats.org/drawingml/2006/main">
      <a:srgbClr val="F7F5F0"/>
    </a:solidFill>
    <a:ln xmlns:a="http://schemas.openxmlformats.org/drawingml/2006/main" w="0">
      <a:solidFill>
        <a:srgbClr val="F7F5F0"/>
      </a:solidFill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млн</c:v>
          </c:tx>
          <c:dPt>
            <c:idx val="0"/>
            <c:invertIfNegative val="0"/>
            <c:spPr>
              <a:solidFill xmlns:a="http://schemas.openxmlformats.org/drawingml/2006/main">
                <a:srgbClr val="2563EB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C3AE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0F9D8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E76F51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Обычная 3×3</c:v>
                </c:pt>
                <c:pt idx="1">
                  <c:v>Dilated d=2</c:v>
                </c:pt>
                <c:pt idx="2">
                  <c:v>Depthwise</c:v>
                </c:pt>
                <c:pt idx="3">
                  <c:v>Deformable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14.6</c:v>
                </c:pt>
                <c:pt idx="1">
                  <c:v>14.6</c:v>
                </c:pt>
                <c:pt idx="2">
                  <c:v>2.27</c:v>
                </c:pt>
                <c:pt idx="3">
                  <c:v>19.24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0">
                  <a:solidFill>
                    <a:srgbClr val="11182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1D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F0"/>
        </a:solidFill>
      </c:spPr>
    </c:plotArea>
    <c:plotVisOnly val="1"/>
  </c:chart>
  <c:spPr>
    <a:solidFill xmlns:a="http://schemas.openxmlformats.org/drawingml/2006/main">
      <a:srgbClr val="F7F5F0"/>
    </a:solidFill>
    <a:ln xmlns:a="http://schemas.openxmlformats.org/drawingml/2006/main" w="0">
      <a:solidFill>
        <a:srgbClr val="F7F5F0"/>
      </a:solidFill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Test accuracy, %</c:v>
          </c:tx>
          <c:dPt>
            <c:idx val="0"/>
            <c:invertIfNegative val="0"/>
            <c:spPr>
              <a:solidFill xmlns:a="http://schemas.openxmlformats.org/drawingml/2006/main">
                <a:srgbClr val="2563EB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C3AE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0F9D8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E76F51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Обычная 3×3</c:v>
                </c:pt>
                <c:pt idx="1">
                  <c:v>Dilated d=2</c:v>
                </c:pt>
                <c:pt idx="2">
                  <c:v>Depthwise</c:v>
                </c:pt>
                <c:pt idx="3">
                  <c:v>Deformable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83.69</c:v>
                </c:pt>
                <c:pt idx="1">
                  <c:v>83.57</c:v>
                </c:pt>
                <c:pt idx="2">
                  <c:v>74.71</c:v>
                </c:pt>
                <c:pt idx="3">
                  <c:v>85.06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0">
                  <a:solidFill>
                    <a:srgbClr val="11182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7"/>
          <c:min val="7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1D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Accuracy, %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F7F5F0"/>
        </a:solidFill>
      </c:spPr>
    </c:plotArea>
    <c:plotVisOnly val="1"/>
  </c:chart>
  <c:spPr>
    <a:solidFill xmlns:a="http://schemas.openxmlformats.org/drawingml/2006/main">
      <a:srgbClr val="F7F5F0"/>
    </a:solidFill>
    <a:ln xmlns:a="http://schemas.openxmlformats.org/drawingml/2006/main" w="0">
      <a:solidFill>
        <a:srgbClr val="F7F5F0"/>
      </a:solidFill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Обычная 3×3</c:v>
          </c:tx>
          <c:spPr>
            <a:ln xmlns:a="http://schemas.openxmlformats.org/drawingml/2006/main" w="28575">
              <a:solidFill>
                <a:srgbClr val="2563EB"/>
              </a:solidFill>
              <a:prstDash val="solid"/>
            </a:ln>
          </c:spPr>
          <c:marker>
            <c:symbol val="circle"/>
            <c:size val="2"/>
          </c:marker>
          <c:cat>
            <c:numRef>
              <c:f>'Chart Data'!$A$2:$A$51</c:f>
              <c:numCache>
                <c:formatCode>General</c:formatCode>
                <c:ptCount val="5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</c:numCache>
            </c:numRef>
          </c:cat>
          <c:val>
            <c:numRef>
              <c:f>'Chart Data'!$B$2:$B$51</c:f>
              <c:numCache>
                <c:formatCode>General</c:formatCode>
                <c:ptCount val="50"/>
                <c:pt idx="0">
                  <c:v>50.12</c:v>
                </c:pt>
                <c:pt idx="1">
                  <c:v>61</c:v>
                </c:pt>
                <c:pt idx="2">
                  <c:v>60.7</c:v>
                </c:pt>
                <c:pt idx="3">
                  <c:v>67.22</c:v>
                </c:pt>
                <c:pt idx="4">
                  <c:v>68.66</c:v>
                </c:pt>
                <c:pt idx="5">
                  <c:v>68.58</c:v>
                </c:pt>
                <c:pt idx="6">
                  <c:v>68.68</c:v>
                </c:pt>
                <c:pt idx="7">
                  <c:v>68.52</c:v>
                </c:pt>
                <c:pt idx="8">
                  <c:v>68.5</c:v>
                </c:pt>
                <c:pt idx="9">
                  <c:v>74.72</c:v>
                </c:pt>
                <c:pt idx="10">
                  <c:v>72.7</c:v>
                </c:pt>
                <c:pt idx="11">
                  <c:v>74.86</c:v>
                </c:pt>
                <c:pt idx="12">
                  <c:v>73.28</c:v>
                </c:pt>
                <c:pt idx="13">
                  <c:v>74.82</c:v>
                </c:pt>
                <c:pt idx="14">
                  <c:v>77.84</c:v>
                </c:pt>
                <c:pt idx="15">
                  <c:v>75</c:v>
                </c:pt>
                <c:pt idx="16">
                  <c:v>78.14</c:v>
                </c:pt>
                <c:pt idx="17">
                  <c:v>79.14</c:v>
                </c:pt>
                <c:pt idx="18">
                  <c:v>79.7</c:v>
                </c:pt>
                <c:pt idx="19">
                  <c:v>78.94</c:v>
                </c:pt>
                <c:pt idx="20">
                  <c:v>78.54</c:v>
                </c:pt>
                <c:pt idx="21">
                  <c:v>79.3</c:v>
                </c:pt>
                <c:pt idx="22">
                  <c:v>79.5</c:v>
                </c:pt>
                <c:pt idx="23">
                  <c:v>80.78</c:v>
                </c:pt>
                <c:pt idx="24">
                  <c:v>80.4</c:v>
                </c:pt>
                <c:pt idx="25">
                  <c:v>81.1</c:v>
                </c:pt>
                <c:pt idx="26">
                  <c:v>79.46</c:v>
                </c:pt>
                <c:pt idx="27">
                  <c:v>80.56</c:v>
                </c:pt>
                <c:pt idx="28">
                  <c:v>81.82</c:v>
                </c:pt>
                <c:pt idx="29">
                  <c:v>82.04</c:v>
                </c:pt>
                <c:pt idx="30">
                  <c:v>81.84</c:v>
                </c:pt>
                <c:pt idx="31">
                  <c:v>82.64</c:v>
                </c:pt>
                <c:pt idx="32">
                  <c:v>82.48</c:v>
                </c:pt>
                <c:pt idx="33">
                  <c:v>82.62</c:v>
                </c:pt>
                <c:pt idx="34">
                  <c:v>82.76</c:v>
                </c:pt>
                <c:pt idx="35">
                  <c:v>82.88</c:v>
                </c:pt>
                <c:pt idx="36">
                  <c:v>82.9</c:v>
                </c:pt>
                <c:pt idx="37">
                  <c:v>83</c:v>
                </c:pt>
                <c:pt idx="38">
                  <c:v>82.94</c:v>
                </c:pt>
                <c:pt idx="39">
                  <c:v>83.34</c:v>
                </c:pt>
                <c:pt idx="40">
                  <c:v>83.08</c:v>
                </c:pt>
                <c:pt idx="41">
                  <c:v>83.38</c:v>
                </c:pt>
                <c:pt idx="42">
                  <c:v>83.5</c:v>
                </c:pt>
                <c:pt idx="43">
                  <c:v>83.52</c:v>
                </c:pt>
                <c:pt idx="44">
                  <c:v>83.58</c:v>
                </c:pt>
                <c:pt idx="45">
                  <c:v>83.56</c:v>
                </c:pt>
                <c:pt idx="46">
                  <c:v>83.46</c:v>
                </c:pt>
                <c:pt idx="47">
                  <c:v>83.56</c:v>
                </c:pt>
                <c:pt idx="48">
                  <c:v>83.56</c:v>
                </c:pt>
                <c:pt idx="49">
                  <c:v>83.62</c:v>
                </c:pt>
              </c:numCache>
            </c:numRef>
          </c:val>
          <c:smooth val="0"/>
        </c:ser>
        <c:ser>
          <c:idx val="1"/>
          <c:order val="1"/>
          <c:tx>
            <c:v>Dilated d=2</c:v>
          </c:tx>
          <c:spPr>
            <a:ln xmlns:a="http://schemas.openxmlformats.org/drawingml/2006/main" w="28575">
              <a:solidFill>
                <a:srgbClr val="7C3AED"/>
              </a:solidFill>
              <a:prstDash val="solid"/>
            </a:ln>
          </c:spPr>
          <c:marker>
            <c:symbol val="circle"/>
            <c:size val="2"/>
          </c:marker>
          <c:cat>
            <c:numRef>
              <c:f>'Chart Data'!$C$2:$C$51</c:f>
              <c:numCache>
                <c:formatCode>General</c:formatCode>
                <c:ptCount val="5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</c:numCache>
            </c:numRef>
          </c:cat>
          <c:val>
            <c:numRef>
              <c:f>'Chart Data'!$D$2:$D$51</c:f>
              <c:numCache>
                <c:formatCode>General</c:formatCode>
                <c:ptCount val="50"/>
                <c:pt idx="0">
                  <c:v>50.04</c:v>
                </c:pt>
                <c:pt idx="1">
                  <c:v>58.34</c:v>
                </c:pt>
                <c:pt idx="2">
                  <c:v>63.28</c:v>
                </c:pt>
                <c:pt idx="3">
                  <c:v>65.14</c:v>
                </c:pt>
                <c:pt idx="4">
                  <c:v>70.72</c:v>
                </c:pt>
                <c:pt idx="5">
                  <c:v>70.48</c:v>
                </c:pt>
                <c:pt idx="6">
                  <c:v>71.84</c:v>
                </c:pt>
                <c:pt idx="7">
                  <c:v>73.32</c:v>
                </c:pt>
                <c:pt idx="8">
                  <c:v>73.46</c:v>
                </c:pt>
                <c:pt idx="9">
                  <c:v>75.96</c:v>
                </c:pt>
                <c:pt idx="10">
                  <c:v>75.18</c:v>
                </c:pt>
                <c:pt idx="11">
                  <c:v>77.64</c:v>
                </c:pt>
                <c:pt idx="12">
                  <c:v>77.88</c:v>
                </c:pt>
                <c:pt idx="13">
                  <c:v>78.08</c:v>
                </c:pt>
                <c:pt idx="14">
                  <c:v>78.36</c:v>
                </c:pt>
                <c:pt idx="15">
                  <c:v>78.82</c:v>
                </c:pt>
                <c:pt idx="16">
                  <c:v>80.34</c:v>
                </c:pt>
                <c:pt idx="17">
                  <c:v>80.22</c:v>
                </c:pt>
                <c:pt idx="18">
                  <c:v>79.22</c:v>
                </c:pt>
                <c:pt idx="19">
                  <c:v>78.68</c:v>
                </c:pt>
                <c:pt idx="20">
                  <c:v>80.66</c:v>
                </c:pt>
                <c:pt idx="21">
                  <c:v>79.92</c:v>
                </c:pt>
                <c:pt idx="22">
                  <c:v>80.2</c:v>
                </c:pt>
                <c:pt idx="23">
                  <c:v>80.84</c:v>
                </c:pt>
                <c:pt idx="24">
                  <c:v>81.44</c:v>
                </c:pt>
                <c:pt idx="25">
                  <c:v>81.58</c:v>
                </c:pt>
                <c:pt idx="26">
                  <c:v>81.74</c:v>
                </c:pt>
                <c:pt idx="27">
                  <c:v>82.2</c:v>
                </c:pt>
                <c:pt idx="28">
                  <c:v>82.32</c:v>
                </c:pt>
                <c:pt idx="29">
                  <c:v>82.42</c:v>
                </c:pt>
                <c:pt idx="30">
                  <c:v>82.42</c:v>
                </c:pt>
                <c:pt idx="31">
                  <c:v>82.58</c:v>
                </c:pt>
                <c:pt idx="32">
                  <c:v>82.8</c:v>
                </c:pt>
                <c:pt idx="33">
                  <c:v>82.92</c:v>
                </c:pt>
                <c:pt idx="34">
                  <c:v>83.12</c:v>
                </c:pt>
                <c:pt idx="35">
                  <c:v>82.5</c:v>
                </c:pt>
                <c:pt idx="36">
                  <c:v>82.82</c:v>
                </c:pt>
                <c:pt idx="37">
                  <c:v>82.92</c:v>
                </c:pt>
                <c:pt idx="38">
                  <c:v>83.56</c:v>
                </c:pt>
                <c:pt idx="39">
                  <c:v>83.1</c:v>
                </c:pt>
                <c:pt idx="40">
                  <c:v>83.54</c:v>
                </c:pt>
                <c:pt idx="41">
                  <c:v>83.58</c:v>
                </c:pt>
                <c:pt idx="42">
                  <c:v>83.52</c:v>
                </c:pt>
                <c:pt idx="43">
                  <c:v>83.58</c:v>
                </c:pt>
                <c:pt idx="44">
                  <c:v>83.7</c:v>
                </c:pt>
                <c:pt idx="45">
                  <c:v>83.9</c:v>
                </c:pt>
                <c:pt idx="46">
                  <c:v>83.78</c:v>
                </c:pt>
                <c:pt idx="47">
                  <c:v>83.6</c:v>
                </c:pt>
                <c:pt idx="48">
                  <c:v>83.88</c:v>
                </c:pt>
                <c:pt idx="49">
                  <c:v>83.82</c:v>
                </c:pt>
              </c:numCache>
            </c:numRef>
          </c:val>
          <c:smooth val="0"/>
        </c:ser>
        <c:ser>
          <c:idx val="2"/>
          <c:order val="2"/>
          <c:tx>
            <c:v>Depthwise</c:v>
          </c:tx>
          <c:spPr>
            <a:ln xmlns:a="http://schemas.openxmlformats.org/drawingml/2006/main" w="28575">
              <a:solidFill>
                <a:srgbClr val="0F9D8A"/>
              </a:solidFill>
              <a:prstDash val="solid"/>
            </a:ln>
          </c:spPr>
          <c:marker>
            <c:symbol val="circle"/>
            <c:size val="2"/>
          </c:marker>
          <c:cat>
            <c:numRef>
              <c:f>'Chart Data'!$E$2:$E$51</c:f>
              <c:numCache>
                <c:formatCode>General</c:formatCode>
                <c:ptCount val="5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</c:numCache>
            </c:numRef>
          </c:cat>
          <c:val>
            <c:numRef>
              <c:f>'Chart Data'!$F$2:$F$51</c:f>
              <c:numCache>
                <c:formatCode>General</c:formatCode>
                <c:ptCount val="50"/>
                <c:pt idx="0">
                  <c:v>48.64</c:v>
                </c:pt>
                <c:pt idx="1">
                  <c:v>51.04</c:v>
                </c:pt>
                <c:pt idx="2">
                  <c:v>50.98</c:v>
                </c:pt>
                <c:pt idx="3">
                  <c:v>58.68</c:v>
                </c:pt>
                <c:pt idx="4">
                  <c:v>61.26</c:v>
                </c:pt>
                <c:pt idx="5">
                  <c:v>63.32</c:v>
                </c:pt>
                <c:pt idx="6">
                  <c:v>60.04</c:v>
                </c:pt>
                <c:pt idx="7">
                  <c:v>62.42</c:v>
                </c:pt>
                <c:pt idx="8">
                  <c:v>62.92</c:v>
                </c:pt>
                <c:pt idx="9">
                  <c:v>65.02</c:v>
                </c:pt>
                <c:pt idx="10">
                  <c:v>66</c:v>
                </c:pt>
                <c:pt idx="11">
                  <c:v>67.22</c:v>
                </c:pt>
                <c:pt idx="12">
                  <c:v>66.58</c:v>
                </c:pt>
                <c:pt idx="13">
                  <c:v>68.32</c:v>
                </c:pt>
                <c:pt idx="14">
                  <c:v>67.84</c:v>
                </c:pt>
                <c:pt idx="15">
                  <c:v>68.76</c:v>
                </c:pt>
                <c:pt idx="16">
                  <c:v>67.8</c:v>
                </c:pt>
                <c:pt idx="17">
                  <c:v>69.8</c:v>
                </c:pt>
                <c:pt idx="18">
                  <c:v>68.92</c:v>
                </c:pt>
                <c:pt idx="19">
                  <c:v>66.6</c:v>
                </c:pt>
                <c:pt idx="20">
                  <c:v>68.36</c:v>
                </c:pt>
                <c:pt idx="21">
                  <c:v>71.24</c:v>
                </c:pt>
                <c:pt idx="22">
                  <c:v>70.1</c:v>
                </c:pt>
                <c:pt idx="23">
                  <c:v>71.1</c:v>
                </c:pt>
                <c:pt idx="24">
                  <c:v>70.68</c:v>
                </c:pt>
                <c:pt idx="25">
                  <c:v>72.58</c:v>
                </c:pt>
                <c:pt idx="26">
                  <c:v>71.78</c:v>
                </c:pt>
                <c:pt idx="27">
                  <c:v>71.72</c:v>
                </c:pt>
                <c:pt idx="28">
                  <c:v>72.46</c:v>
                </c:pt>
                <c:pt idx="29">
                  <c:v>72.3</c:v>
                </c:pt>
                <c:pt idx="30">
                  <c:v>73.1</c:v>
                </c:pt>
                <c:pt idx="31">
                  <c:v>73.74</c:v>
                </c:pt>
                <c:pt idx="32">
                  <c:v>72.54</c:v>
                </c:pt>
                <c:pt idx="33">
                  <c:v>72.54</c:v>
                </c:pt>
                <c:pt idx="34">
                  <c:v>73.78</c:v>
                </c:pt>
                <c:pt idx="35">
                  <c:v>74.18</c:v>
                </c:pt>
                <c:pt idx="36">
                  <c:v>73.88</c:v>
                </c:pt>
                <c:pt idx="37">
                  <c:v>73.9</c:v>
                </c:pt>
                <c:pt idx="38">
                  <c:v>74.22</c:v>
                </c:pt>
                <c:pt idx="39">
                  <c:v>74.06</c:v>
                </c:pt>
                <c:pt idx="40">
                  <c:v>73.9</c:v>
                </c:pt>
                <c:pt idx="41">
                  <c:v>74.2</c:v>
                </c:pt>
                <c:pt idx="42">
                  <c:v>74.26</c:v>
                </c:pt>
                <c:pt idx="43">
                  <c:v>74.32</c:v>
                </c:pt>
                <c:pt idx="44">
                  <c:v>74.18</c:v>
                </c:pt>
                <c:pt idx="45">
                  <c:v>74.32</c:v>
                </c:pt>
                <c:pt idx="46">
                  <c:v>74.32</c:v>
                </c:pt>
                <c:pt idx="47">
                  <c:v>74.32</c:v>
                </c:pt>
                <c:pt idx="48">
                  <c:v>74.28</c:v>
                </c:pt>
                <c:pt idx="49">
                  <c:v>74.52</c:v>
                </c:pt>
              </c:numCache>
            </c:numRef>
          </c:val>
          <c:smooth val="0"/>
        </c:ser>
        <c:ser>
          <c:idx val="3"/>
          <c:order val="3"/>
          <c:tx>
            <c:v>Deformable</c:v>
          </c:tx>
          <c:spPr>
            <a:ln xmlns:a="http://schemas.openxmlformats.org/drawingml/2006/main" w="28575">
              <a:solidFill>
                <a:srgbClr val="E76F51"/>
              </a:solidFill>
              <a:prstDash val="solid"/>
            </a:ln>
          </c:spPr>
          <c:marker>
            <c:symbol val="circle"/>
            <c:size val="2"/>
          </c:marker>
          <c:cat>
            <c:numRef>
              <c:f>'Chart Data'!$G$2:$G$51</c:f>
              <c:numCache>
                <c:formatCode>General</c:formatCode>
                <c:ptCount val="5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</c:numCache>
            </c:numRef>
          </c:cat>
          <c:val>
            <c:numRef>
              <c:f>'Chart Data'!$H$2:$H$51</c:f>
              <c:numCache>
                <c:formatCode>General</c:formatCode>
                <c:ptCount val="50"/>
                <c:pt idx="0">
                  <c:v>55.72</c:v>
                </c:pt>
                <c:pt idx="1">
                  <c:v>61.4</c:v>
                </c:pt>
                <c:pt idx="2">
                  <c:v>67.22</c:v>
                </c:pt>
                <c:pt idx="3">
                  <c:v>69.26</c:v>
                </c:pt>
                <c:pt idx="4">
                  <c:v>73.64</c:v>
                </c:pt>
                <c:pt idx="5">
                  <c:v>75</c:v>
                </c:pt>
                <c:pt idx="6">
                  <c:v>74.5</c:v>
                </c:pt>
                <c:pt idx="7">
                  <c:v>76.5</c:v>
                </c:pt>
                <c:pt idx="8">
                  <c:v>77.3</c:v>
                </c:pt>
                <c:pt idx="9">
                  <c:v>77.66</c:v>
                </c:pt>
                <c:pt idx="10">
                  <c:v>78.34</c:v>
                </c:pt>
                <c:pt idx="11">
                  <c:v>78.52</c:v>
                </c:pt>
                <c:pt idx="12">
                  <c:v>80.86</c:v>
                </c:pt>
                <c:pt idx="13">
                  <c:v>80.4</c:v>
                </c:pt>
                <c:pt idx="14">
                  <c:v>79.56</c:v>
                </c:pt>
                <c:pt idx="15">
                  <c:v>81.2</c:v>
                </c:pt>
                <c:pt idx="16">
                  <c:v>81.68</c:v>
                </c:pt>
                <c:pt idx="17">
                  <c:v>81.56</c:v>
                </c:pt>
                <c:pt idx="18">
                  <c:v>80.94</c:v>
                </c:pt>
                <c:pt idx="19">
                  <c:v>82.22</c:v>
                </c:pt>
                <c:pt idx="20">
                  <c:v>83.32</c:v>
                </c:pt>
                <c:pt idx="21">
                  <c:v>82.32</c:v>
                </c:pt>
                <c:pt idx="22">
                  <c:v>82.84</c:v>
                </c:pt>
                <c:pt idx="23">
                  <c:v>83.32</c:v>
                </c:pt>
                <c:pt idx="24">
                  <c:v>83.36</c:v>
                </c:pt>
                <c:pt idx="25">
                  <c:v>83.78</c:v>
                </c:pt>
                <c:pt idx="26">
                  <c:v>83.96</c:v>
                </c:pt>
                <c:pt idx="27">
                  <c:v>84.68</c:v>
                </c:pt>
                <c:pt idx="28">
                  <c:v>84.26</c:v>
                </c:pt>
                <c:pt idx="29">
                  <c:v>84.06</c:v>
                </c:pt>
                <c:pt idx="30">
                  <c:v>84.34</c:v>
                </c:pt>
                <c:pt idx="31">
                  <c:v>83.9</c:v>
                </c:pt>
                <c:pt idx="32">
                  <c:v>84.5</c:v>
                </c:pt>
                <c:pt idx="33">
                  <c:v>85.04</c:v>
                </c:pt>
                <c:pt idx="34">
                  <c:v>85.02</c:v>
                </c:pt>
                <c:pt idx="35">
                  <c:v>85.18</c:v>
                </c:pt>
                <c:pt idx="36">
                  <c:v>85.02</c:v>
                </c:pt>
                <c:pt idx="37">
                  <c:v>85.28</c:v>
                </c:pt>
                <c:pt idx="38">
                  <c:v>85.24</c:v>
                </c:pt>
                <c:pt idx="39">
                  <c:v>85.28</c:v>
                </c:pt>
                <c:pt idx="40">
                  <c:v>85.38</c:v>
                </c:pt>
                <c:pt idx="41">
                  <c:v>85.48</c:v>
                </c:pt>
                <c:pt idx="42">
                  <c:v>85.44</c:v>
                </c:pt>
                <c:pt idx="43">
                  <c:v>85.32</c:v>
                </c:pt>
                <c:pt idx="44">
                  <c:v>85.24</c:v>
                </c:pt>
                <c:pt idx="45">
                  <c:v>85.46</c:v>
                </c:pt>
                <c:pt idx="46">
                  <c:v>85.52</c:v>
                </c:pt>
                <c:pt idx="47">
                  <c:v>85.6</c:v>
                </c:pt>
                <c:pt idx="48">
                  <c:v>85.64</c:v>
                </c:pt>
                <c:pt idx="49">
                  <c:v>85.52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Эпоха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8"/>
          <c:min val="45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1D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Validation accuracy, %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7F5F0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111827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5F0"/>
    </a:solidFill>
    <a:ln xmlns:a="http://schemas.openxmlformats.org/drawingml/2006/main" w="0">
      <a:solidFill>
        <a:srgbClr val="F7F5F0"/>
      </a:solidFill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3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E4A894-6053-4507-A5B7-58980691A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162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9525">
            <a:solidFill>
              <a:srgbClr val="E76F5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4D5757-4E68-48DB-82B0-25C7EB6D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7620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Специальные виды</a:t>
            </a:r>
          </a:p>
          <a:p xmlns:a="http://schemas.openxmlformats.org/drawingml/2006/main">
            <a: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свёрток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C749D6-CF93-478A-BDDA-F0FCDC50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809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D5DFE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5DFE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5DFEF"/>
                </a:solidFill>
                <a:latin typeface="Arial"/>
                <a:ea typeface="Arial"/>
                <a:cs typeface="Arial"/>
              </a:rPr>
              <a:t>Dilated, Depthwise и Deformable в классификации CIFAR-10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FA9FA8-BD21-487A-9DA2-DC7E2041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1047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05D"/>
          </a:solidFill>
          <a:ln xmlns:a="http://schemas.openxmlformats.org/drawingml/2006/main" w="9525">
            <a:solidFill>
              <a:srgbClr val="3240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F47F38-49A9-4DE7-B642-8B7FF449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673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>
                <a:solidFill>
                  <a:srgbClr val="AAB8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>
                <a:solidFill>
                  <a:srgbClr val="AAB8D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AAB8D0"/>
                </a:solidFill>
                <a:latin typeface="Arial"/>
                <a:ea typeface="Arial"/>
                <a:cs typeface="Arial"/>
              </a:rPr>
              <a:t>Один датасет, одна архитектура, четыре оператора</a:t>
            </a:r>
          </a:p>
        </p:txBody>
      </p:sp>
    </p:spTree>
    <p:extLst>
      <p:ext uri="{BB962C8B-B14F-4D97-AF65-F5344CB8AC3E}">
        <p14:creationId xmlns:p14="http://schemas.microsoft.com/office/powerpoint/2010/main" val="2593966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D64EE0-CFB6-4C51-8343-5BD571E4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Одна архитектура, четыре оператора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978616-CBE0-47BC-8F59-0FCB7A4E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191A2-C595-43D9-BD8A-8777B72A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F97CC5-6626-4B1C-A365-D2851DF3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Что меняется при замене обычной свёртки 3×3?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152D8A-1869-42F6-99A7-073B29F9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1714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8475D1-1E4E-43B9-B9F2-C600174B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24175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Обычная 3×3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2AFCD7-CAB2-4F9E-A665-3ECC8303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514600"/>
            <a:ext cx="1714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DE0D52-A37C-49FA-9853-EBEED1C7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24175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Dilated d=2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EBD763-ABA2-4EB3-9131-8CC3EB53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14600"/>
            <a:ext cx="1714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8BF506-CEEE-4AF0-B942-DA99D6B0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24175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Depthwise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A7235-F0F4-4FF5-8602-524E5853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514600"/>
            <a:ext cx="1714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BE9E4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2627CC-4410-4115-9B39-399DD7C7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924175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Deformable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D4D5F3-3488-4F04-B5EA-8B4FDD51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Сравниваем качество, вычисления и карты признаков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2021A1-D76B-48B8-B71A-BEF079DC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Меняется только пространственный оператор в трёх блоках сети</a:t>
            </a:r>
          </a:p>
        </p:txBody>
      </p:sp>
    </p:spTree>
    <p:extLst>
      <p:ext uri="{BB962C8B-B14F-4D97-AF65-F5344CB8AC3E}">
        <p14:creationId xmlns:p14="http://schemas.microsoft.com/office/powerpoint/2010/main" val="19458553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DBAE4B-85B2-42AB-9C9A-DAAEFBE7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Архитектура модели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53E44D-E8DF-4D91-85EF-DD3995B4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19D40-A6A5-4FCC-8146-0EC33DAD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FDDEFF-0ABE-4D35-8909-5375085E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802109-643E-4128-9FDB-16DE4303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9082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RGB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24B632-7C92-449C-A32B-6CF63840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3×32×32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46BC96-0734-4FD9-81A8-BFDFEBAB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14675"/>
            <a:ext cx="200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9525">
            <a:solidFill>
              <a:srgbClr val="59627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7BBDC8-7DA7-4807-ADA2-4F157642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05752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solidFill>
              <a:srgbClr val="596273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BA5B9A-7932-4A42-923E-2D63D6AE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57175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1489F7-52ED-4D24-9BC7-896030DD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79082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Stem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68E0D4-E9E8-46CC-A440-A8E05682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2194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16×32×32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80EF8C-7F8C-4521-B7EC-801BDAB7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114675"/>
            <a:ext cx="200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9525">
            <a:solidFill>
              <a:srgbClr val="59627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7E3C8A-FE70-4921-9F11-4CC3EE33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5752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solidFill>
              <a:srgbClr val="59627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DFB5A6-5845-4290-B6B3-FF9FFA93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57175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D478A1-2EF9-4DAC-AEDD-EA0EE468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9082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Special 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0810F0-1A86-4370-B25B-A6C487C8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194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32×16×16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1CBF2D-6B58-4238-AF3E-B450806F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114675"/>
            <a:ext cx="200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9525">
            <a:solidFill>
              <a:srgbClr val="59627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E09D8E-146C-463F-8F46-1B6C2264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05752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solidFill>
              <a:srgbClr val="596273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E0A7F4-C38A-4297-A527-80A62B4D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57175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7E128D-7117-43CD-9431-A9F4A763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79082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Special 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E5F7D4-A76E-4112-906D-256CFB29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2194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64×8×8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45FE4C-1E17-4E29-9F73-DE2E123C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114675"/>
            <a:ext cx="200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9525">
            <a:solidFill>
              <a:srgbClr val="59627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F13803-A23B-41A4-8762-CC8A6753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5752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solidFill>
              <a:srgbClr val="596273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78D455-BB60-4D56-86FB-6E8AA951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7175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C79F36-9DC9-4785-BD11-32347236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9082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Special 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4A94D6-9F23-4A26-89DE-7024AF0E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194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128×4×4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7EDACF-24FB-4360-ADA8-08B1163E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14675"/>
            <a:ext cx="200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9525">
            <a:solidFill>
              <a:srgbClr val="59627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2D55E2-056A-4459-981A-F4AD3672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05752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solidFill>
              <a:srgbClr val="596273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EB2128-552D-4631-BE6B-661670C7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57175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89489A-E8AA-400B-9D26-6ABCE540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79082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GAP + FC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8F32B5-17FC-4748-8122-D61C3701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2194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10 классов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868AE8-CD0F-49C2-91E6-3026215B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Stem, pooling и классификатор одинаковы во всех вариантах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F56DDC2-A19B-46E2-851A-CC25516C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006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После каждого специального блока: BatchNorm, ReLU и MaxPool 2×2</a:t>
            </a:r>
          </a:p>
        </p:txBody>
      </p:sp>
    </p:spTree>
    <p:extLst>
      <p:ext uri="{BB962C8B-B14F-4D97-AF65-F5344CB8AC3E}">
        <p14:creationId xmlns:p14="http://schemas.microsoft.com/office/powerpoint/2010/main" val="21443128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7940698-1B91-4A1A-A79B-551AA37C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Обычная и dilated свёртки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02D962-2305-48DB-8549-931CD00F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182187-DCE2-42FD-B9CA-807EF7EB1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C017B6-67EB-40D2-919D-EC518AFA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002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Обычная 3×3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E55CB5-417F-4F63-AFB8-864B18E0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9103DF-8DE1-4034-B413-46BEF1FD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8DD40A-0747-4A6C-BFF2-0F6112E4E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B6CB41-8ACE-4DB2-890A-BA52B83C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A59FD7-515F-48D6-BFB7-1D438DE8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5CE1E0-0926-4C7F-96D9-1484DE7E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F91B20-5DF7-4CFE-B40D-0F3B485D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47C8DD-856C-4611-A047-84836853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BAA7D5-C2D6-460F-9DE3-EFF324C0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466B0D-D904-4F6A-8A2A-332BA6C5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31E549-03B5-48A3-9998-DE4F53A6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C2DE66-A2B4-43F3-9A4B-31E52D10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B3B3AA-51F7-49CF-A031-E97E274F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5B7F99-D355-4CC2-8F5D-477B2A70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A9194F-5363-45D0-951D-3EBA526F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45A264-28BF-4653-9397-D0F63C7D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56E022-079D-4D31-B0C2-65588333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3DA488-E4A0-4F46-86DB-51997752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E6AE15-4811-426A-A28C-B08FF3998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3A3866-E1B4-4AE8-8A54-F8BA9E27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DD3A4A-A9CA-435D-868C-6A1314F5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9E11F0-7EB2-42C7-BC13-39D7B281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D783F2-72D2-483A-A8CC-3049DE6E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14D4D3-D872-4598-9ED2-3A989D6D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440833-76A0-4C88-86A5-B87B7091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99EC2C-D146-476C-8BAF-A38FAE26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005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9 соседних точек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01C97F-7EC3-490C-8B7B-9EA9565D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6002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Dilated 3×3, d=2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AC7648-EECA-4CB3-A840-C6BD1213F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AE0007-82B9-46C2-9BAB-CC9A8060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6E3A30-36BB-4E07-9C82-7A0CAD8A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E8EFD5-0F35-47CC-AA0F-0D725CA3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D1C9F5-816B-4D59-85E4-3275745D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A9C903-73FE-43D9-B97A-13152F84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6ADE775-73D3-4ED2-AF3E-2CD567B0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D2F1A2-B83A-4600-B2FD-4402EDBB0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3C9A2BC-5C95-41D3-AEC4-CA420D46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748A6D-82C9-4409-8E0F-615C81FF6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A7A333E-9DD0-4C98-8B36-DAC00FE7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CA18523-AB18-419E-9A56-E95E21F0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C00EAB-B962-4FC6-BB9F-7D26DB2E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FC9F84D-D65F-458C-B1BD-8B4F945D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1F75B5C-A0C1-451A-92CF-CAA08D52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18B6114-0E29-49E2-B60B-B51785B9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D8D8D99-AFE9-4808-9173-9FDDE568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DCCE64-273B-45D1-AA33-A4414622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E5BB47-B5A5-41DE-8C30-61A355CD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7A72439-24D3-482D-939F-8F7E53E9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7B19482-B0A7-404B-9ED3-6D48B26E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BCFE322-9AD8-4A91-A7D8-DA4777EE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B68145F-F609-48B5-B773-E4DAA33A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09EC3FE-1202-45A8-AFDA-CEFE851D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1D3BD87-9C30-4CFD-80AD-0B171502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F09C7A1-1026-4E01-805F-6A376C35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005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те же 9 точек в области 5×5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47A3848-F7CE-40D6-AC3F-C46DC809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C0E01E1-C069-427E-8E36-863FA875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435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Рецептивное поле больше, а число весов то же</a:t>
            </a:r>
          </a:p>
        </p:txBody>
      </p:sp>
    </p:spTree>
    <p:extLst>
      <p:ext uri="{BB962C8B-B14F-4D97-AF65-F5344CB8AC3E}">
        <p14:creationId xmlns:p14="http://schemas.microsoft.com/office/powerpoint/2010/main" val="4860784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799F549-ECEE-41B1-B857-B789216E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Depthwise + pointwise: два разных действия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885884-8898-40F2-B56D-C6BA21CE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76007-A8D0-4E5E-81B7-3EC9B5DC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BFCE61-E2C8-4FC3-A562-80148903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Depthwise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27DCD5-540B-4619-B892-17286510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4668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3×3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E1F8F8-9674-48E4-8F9B-0E764774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Три отдельных фильтра: каждый работает только со своим каналом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F0EC52-E9DE-439D-99D0-A7649C1E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57450"/>
            <a:ext cx="762000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FE086A-20C1-4FF0-AFDF-6A0866FA0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26860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AACFD5-3161-4A87-B846-022496DB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29146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C3D6C9-2133-41B4-A24E-00E8B88A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53365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BBF404-EB6C-4BBD-8F97-905706F0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3365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D5D35A-DE4A-4923-BF86-55EFABF5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7182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E19E-D5F2-4915-8CCE-40E39AAE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62890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60B37B-F5DB-48AD-B1A3-25CC6E0E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43175"/>
            <a:ext cx="914400" cy="514350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21C941-370A-4118-86CA-645AA2FF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8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3×3 #1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43C622-0972-4B03-A1B8-4443A49AF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2890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C40CB7-6C31-4A22-B790-EC710704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457450"/>
            <a:ext cx="762000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8EC2F9-E325-4C1B-8CC9-87C76E54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26860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EFE79E-B015-4066-84FE-EE2A4C17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29146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86E3FB-8C22-41A6-A07C-80043957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53365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B174DB-A96D-4873-9ED6-FCD61F33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3365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86838D-F246-49D9-B888-1099F33E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17182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1677CD-3C3D-4B34-92DD-EF242029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09950"/>
            <a:ext cx="762000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4065BA-6A69-499B-A7A4-1D61E0A3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36385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A098D1-81E0-46DC-A612-51A88D74A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38671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4E4C00-E718-4124-BF92-D4DA746F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8615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21F604-3D1A-4618-A15E-C78CDCCF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8615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7F5E53-458D-4019-962B-1D6987A6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2432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69B3FC-67EC-4C7B-821E-92B383B4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58140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A2A8C2-E403-4A26-A065-EF38DD04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95675"/>
            <a:ext cx="914400" cy="514350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ED714B-CB0D-4AE0-98A8-A9D06624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385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3×3 #2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23864D-8D3E-407B-9B22-11DF7632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58140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0F6935-7019-43AF-9FB4-294DC5F6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09950"/>
            <a:ext cx="762000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60FDC4-F816-4538-950F-9FF5406A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6385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B2B8CB-4981-412C-824B-0B5BC5AE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8671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9DFE747-5F7D-4DD9-88C6-18A879DB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8615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A65EE2A-E1E7-4E54-B626-31EFF343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48615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643E85-3E8D-4085-8058-A64F4456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2432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F78567B-7BFA-4F24-85FC-B7285454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62450"/>
            <a:ext cx="762000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0245D1-5119-4F68-B2DD-B93CD7E8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45910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6EA55F-50E1-46F5-9024-41EF4FC1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48196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190AD6-1A5A-406B-8A76-B6E70BB3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3865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7E3134-FCA4-4E41-AC96-762CB9A5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3865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49842D5-4411-4C39-95E8-2058B709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7682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69F49B2-2A5B-4286-AA92-0F95CF90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53390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B75CA18-9E14-4DB8-9BE3-C5EF65DA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48175"/>
            <a:ext cx="914400" cy="514350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BD51C36-66BF-4C66-9A19-31BD5F37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591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3×3 #3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BE7E193-B887-4B3D-8597-6E0801B9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53390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405D599-4B58-47B3-BE94-9E7AB4D7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362450"/>
            <a:ext cx="762000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62CF175-082A-4C2F-A872-94DA2662B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5910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EA2C238-1543-4181-AE3B-56A7790B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819650"/>
            <a:ext cx="590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6E52E1F-2DED-4D0B-AE60-978471AD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43865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5EF2C46-FBB6-483A-9722-6447FB05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3865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AA278FB-9727-4632-A977-A6B048DC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07682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C3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F9A1CFD-872C-4D75-BBD4-19F87497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Ни один фильтр не смешивает C1, C2 и C3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97B5E00-C981-46BB-A795-1C753524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466850"/>
            <a:ext cx="190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139122D-C118-4466-AA00-469C2F3E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668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Pointwise 1×1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5282FBA-039E-4DB8-BD5D-E33B7610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2880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В одной позиции (i, j) он берёт значения всех входных каналов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0056A12-F055-4E4C-B74E-C2CEF70D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24100"/>
            <a:ext cx="110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входной вектор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5F301EE-B105-4484-960E-3C138B15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81300"/>
            <a:ext cx="1104900" cy="1619250"/>
          </a:xfrm>
          <a:prstGeom xmlns:a="http://schemas.openxmlformats.org/drawingml/2006/main" prst="roundRect">
            <a:avLst>
              <a:gd name="adj" fmla="val 60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6A68829-A673-45E1-B53C-8B5A46D6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80010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9F2DFCF-721B-441B-97C7-10BB2D01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92417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C1(i,j)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CB8544A-1533-43E0-BB86-6ED84DD0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314700"/>
            <a:ext cx="80010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33AB911-36FC-4162-9222-1016197F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8137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C2(i,j)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939599C-8B24-49AB-A5D3-B6FD1C1F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71900"/>
            <a:ext cx="800100" cy="3048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2D440CD-3689-4B5F-B00B-6D5CD1F1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3857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C3(i,j)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442DA9E-7FC0-4516-85F6-BBD5EADF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3375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DB8E454-AF4C-4278-92BF-9D5CE170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05100"/>
            <a:ext cx="1295400" cy="1619250"/>
          </a:xfrm>
          <a:prstGeom xmlns:a="http://schemas.openxmlformats.org/drawingml/2006/main" prst="roundRect">
            <a:avLst>
              <a:gd name="adj" fmla="val 5147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2D0BCC6-C9C9-4D8C-A65E-569E64101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1465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1×1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BEB4000-8FA0-4CD2-82C5-01ED6A2E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29000"/>
            <a:ext cx="106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Cout разных</a:t>
            </a:r>
          </a:p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фильтров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6AD7001-EF2E-4D05-8108-13EED3E1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3375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955542B-3D2E-4C30-8A48-F101C844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241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выходной вектор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012F62B-DB8D-41D4-9650-DBE0F39A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781300"/>
            <a:ext cx="1104900" cy="1619250"/>
          </a:xfrm>
          <a:prstGeom xmlns:a="http://schemas.openxmlformats.org/drawingml/2006/main" prst="roundRect">
            <a:avLst>
              <a:gd name="adj" fmla="val 60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DE7C4E5-216C-4C97-B5E2-B433E7C3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857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O1(i,j)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C635CBC-6752-43E3-91F6-CA1D39A9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1813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O2(i,j)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9798C6F-7AE6-4D10-B07D-7924874B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5052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EAEAFD3-6253-4C13-B35D-64A11022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8290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OCout(i,j)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C9AC8C2-FC2E-4AED-9261-CF5C877F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57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Соседние пиксели здесь не участвуют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E68971E-7A94-4288-A33E-A8777F58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Depthwise: работа в пространстве. Pointwise: смешивание каналов.</a:t>
            </a:r>
          </a:p>
        </p:txBody>
      </p:sp>
    </p:spTree>
    <p:extLst>
      <p:ext uri="{BB962C8B-B14F-4D97-AF65-F5344CB8AC3E}">
        <p14:creationId xmlns:p14="http://schemas.microsoft.com/office/powerpoint/2010/main" val="21213886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E81E3B5-6DE5-4819-BA0A-E8A154A3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Deformable convolution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A7B7EC-9B96-402F-87E9-B62EB8F0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9C479F-8973-4C81-B2A3-3301E613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99ECEB-D8E2-4296-8660-84178836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002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Обычная сетка 3×3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748908-44B0-404F-91E8-5231DAE8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65B4DD-0883-4066-A41A-0F834093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56F384-023F-41D2-9F55-27B981FF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C69E38-AE73-4DC1-A7A4-7C50382D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492E78-750C-463E-BD94-00ACFD44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C92FF0-D672-411D-8944-E919C4B6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B94011-F386-4E89-A5CC-7D108512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49F093-EC3A-426D-8A79-1E5CE316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7EC45-A747-4D28-9198-4F780482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C77FC-CEDB-4972-8E02-0D62D7C0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62341B-5941-41A6-85C5-EACBD7A3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15E93B-06C4-493F-885F-11B22364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4561FB-CCD1-4329-8235-C11EFCA1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2E7993-52D8-4D81-9098-7246C6AC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7EAD50-F7AE-43FA-8FE0-06B8A663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6A0F9E-72E3-4767-8F81-FA751A43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6E1EC6-4072-4978-B02B-ACB7A72F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4B1B35-3FCD-40FA-809D-9A5AD368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6D123E-5690-41BE-A46E-C3CFAA38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8777C4-104E-473F-8889-59F7730FE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68CF23-E5F7-48DC-B77A-035A4BF9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498421-BDC6-487E-A6F0-0B08E53C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70AEB2-D022-406A-A3B7-51AAC478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DA8507-E281-4857-99D0-E1126956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B3220B-1BF7-4F14-8B4F-4EF3AE34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96B412-DF80-43F0-8EEC-9B9EEF54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002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+ offsets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678FA9-26EC-4810-B44B-DE0E13D0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DD4649-6554-45A6-B601-4C4596BE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B9D5FE-1747-46EF-AB7A-55CE1D92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290337-B9BC-48B7-B465-22DCAA24D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FE71EE-D1AB-4261-B9A3-1DA68264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CF0B22-AFD6-4F2D-AE09-8409B83D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578DBA-BDBB-4145-9C93-4845F00D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FCC027-9AD4-47AE-BAA4-1B2BBB72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067CAC2-B024-4A07-B112-AA0452D0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723C68-5F2A-476A-B0C0-94D513E3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A433ABE-B44B-4DCC-A42A-9F7CA8AF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93EC41-D2BC-4AF5-BB77-896807D8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3DF19EF-0295-4A10-8736-B7785A36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56A039C-E0C6-4EE7-8E99-43866033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5584E4C-B54B-4836-9BF2-71B8C3C1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2DE4013-DF37-47D2-ABA9-9F241BBD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ACBAD2A-C055-45D5-BBD8-312C91E3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C2EDC82-67B1-48EA-8E92-4C51ADAA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E03700C-CECA-416A-8AE1-36956E21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FE6AD1-D10C-4FE0-9AD7-29DB67C7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28F8A5-18FD-4177-9046-84C70AAC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E442322-5191-4CDC-81BF-2295FC8D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1F6A238-0161-418D-970D-C81F158B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BA326E4-A564-4BA2-B4AC-FD5FF582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0BC99C6-FB07-41D9-A80B-C805DB7F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41E423A-EEE7-4686-A8D4-29726E64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4240" y="286131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B7AFCE2-3E33-4A9B-9098-7074E222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4295" y="266128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B21B6A6-94BE-4B91-BB5C-BD5E8381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4360" y="282130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18F5F22-69AF-443F-A6E0-B0A0A43F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4137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E3BFFCA-804B-4EEB-B5E3-C35F6F14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4310" y="31813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F9AAAEB-6BD1-4C19-A4E6-C2840F069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6138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638C46F-3498-474D-8891-8019D4BB2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4235" y="382143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0926F26-90B0-462A-8029-1CADF878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4305" y="366141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7B18A28-382C-4966-9BA4-20CB64EB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365" y="390144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30D1DD1-4EB9-42C4-8ED9-1EB943AE6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Offset predictor выдаёт 18 чисел для ядра 3×3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279A54A-5965-4600-9705-E2AE6EBE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9 пар координат (Δy, Δx) сдвигают точки выборки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1AE594A-0E70-4682-A911-A23D9BA9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3405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Дробные координаты: билинейная интерполяция</a:t>
            </a:r>
          </a:p>
        </p:txBody>
      </p:sp>
    </p:spTree>
    <p:extLst>
      <p:ext uri="{BB962C8B-B14F-4D97-AF65-F5344CB8AC3E}">
        <p14:creationId xmlns:p14="http://schemas.microsoft.com/office/powerpoint/2010/main" val="466989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D7C48-0830-40FA-944B-659FF42E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Один вход, одинаковые веса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B0149C-C5DC-405D-9C92-1CC4128E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6F8E44-D951-4DDE-9507-B6EB3631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D71816-F6BB-4599-84AE-57806D9AC2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b8b7c511fd42b5"/>
          <a:stretch xmlns:a="http://schemas.openxmlformats.org/drawingml/2006/main"/>
        </p:blipFill>
        <p:spPr>
          <a:xfrm xmlns:a="http://schemas.openxmlformats.org/drawingml/2006/main">
            <a:off x="723900" y="1800754"/>
            <a:ext cx="10706100" cy="260879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79934-D0FF-4A9E-A51D-4DE9425A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Во всех пространственных ядрах: 9 коэффициентов по 1/9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A06B79-46FC-482E-A38A-682CDDF26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054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Для depthwise показан один входной канал, поэтому после pointwise 1×1 результат совпадает с обычной 3×3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0ECF86-3C76-4F35-9B80-D3F82CFD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38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Deformable: показана фиксированная деформированная сетка только для иллюстрации</a:t>
            </a:r>
          </a:p>
        </p:txBody>
      </p:sp>
    </p:spTree>
    <p:extLst>
      <p:ext uri="{BB962C8B-B14F-4D97-AF65-F5344CB8AC3E}">
        <p14:creationId xmlns:p14="http://schemas.microsoft.com/office/powerpoint/2010/main" val="19322821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26020A-0505-4DEC-8EC5-97A80759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Протокол сравнения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6563B9-A56E-4174-9FEF-EDC62A6D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DE686E-340A-472F-BA6C-33643EBF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19D6B-43BA-4DEC-BB48-B46A5E2D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21907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60C2EC-E107-4F76-9B9A-6910DDAF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765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45k / 5k / 10k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E2BD00-C878-4AEC-BECD-00C8C4DE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908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train / val / test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D23000-E26D-4C7F-BDA1-DB112B45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907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79363F-064A-43DF-BD68-08459655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765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B8447C-D307-4CF0-9437-C3B73C74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908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эпох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C5B31F-C7E5-4EBF-A1E8-29AD1375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21907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73E682-32A8-4AE5-BB0C-87DD70B8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765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6A89F7-317C-4F7E-BA2C-6237C03B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908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seed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061C1E-56B8-4CCC-8D2F-DB727A7C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33600"/>
            <a:ext cx="21907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0966DB-1F53-446A-89EB-E26521AB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765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AdamW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E28C67-28DB-4972-B453-DD77C90D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908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оптимизатор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ACE7D4-3333-4073-A3F6-3C4665E1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Одинаковые аугментации, batch size, schedule и порядок данных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9B4FA1-ECCB-4402-9671-C6098891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Checkpoint выбирается по validation accuracy. Test используется один раз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A0EF9F-9B48-4AE9-87AB-26F98C16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53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Один seed на вариант: доверительный интервал не оценивался</a:t>
            </a:r>
          </a:p>
        </p:txBody>
      </p:sp>
    </p:spTree>
    <p:extLst>
      <p:ext uri="{BB962C8B-B14F-4D97-AF65-F5344CB8AC3E}">
        <p14:creationId xmlns:p14="http://schemas.microsoft.com/office/powerpoint/2010/main" val="11748053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4B9E90-A6A7-4AC9-996B-B4F82BC1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Параметры и MACs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374206-01FF-4F0C-B4B0-C61DB3D3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80C5C7-EDEF-4798-892A-D9FDCE63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CD6CEB-54C6-4BF9-A160-A4FAA83E4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Параметры, тыс.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26D5E08B-5D3C-4845-A176-B6F267AB61AA}"/>
              </a:ext>
            </a:extLst>
          </p:cNvPr>
          <p:cNvGraphicFramePr/>
          <p:nvPr/>
        </p:nvGraphicFramePr>
        <p:xfrm>
          <a:off xmlns:a="http://schemas.openxmlformats.org/drawingml/2006/main" x="666750" y="1952625"/>
          <a:ext xmlns:a="http://schemas.openxmlformats.org/drawingml/2006/main" cx="4762500" cy="3162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cebab8c93948dd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11D73-98A4-469B-91FD-8BF436E8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859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MACs, млн на изображение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0D382AB7-15DF-4476-8E9A-7682B7636894}"/>
              </a:ext>
            </a:extLst>
          </p:cNvPr>
          <p:cNvGraphicFramePr/>
          <p:nvPr/>
        </p:nvGraphicFramePr>
        <p:xfrm>
          <a:off xmlns:a="http://schemas.openxmlformats.org/drawingml/2006/main" x="6667500" y="1952625"/>
          <a:ext xmlns:a="http://schemas.openxmlformats.org/drawingml/2006/main" cx="4762500" cy="3162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4b25d1b019e4a7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03AFBC-A6E5-4105-BF12-D79E1776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Depthwise: меньше параметров и MACs. Deformable: дополнительный offset predictor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95ACC0-6C1D-450A-ABDD-2482BFEB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341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MACs для deformable не включают билинейную интерполяцию и адресацию памяти</a:t>
            </a:r>
          </a:p>
        </p:txBody>
      </p:sp>
    </p:spTree>
    <p:extLst>
      <p:ext uri="{BB962C8B-B14F-4D97-AF65-F5344CB8AC3E}">
        <p14:creationId xmlns:p14="http://schemas.microsoft.com/office/powerpoint/2010/main" val="545816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DDB029-B468-481E-BBC8-9655758E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Качество на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4DCBC9-B367-465F-9463-A82AC006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17943D-D8E8-41E7-BB68-8B9D387BD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C4BAF85D-C05A-485B-97C8-C0C5B760C246}"/>
              </a:ext>
            </a:extLst>
          </p:cNvPr>
          <p:cNvGraphicFramePr/>
          <p:nvPr/>
        </p:nvGraphicFramePr>
        <p:xfrm>
          <a:off xmlns:a="http://schemas.openxmlformats.org/drawingml/2006/main" x="819150" y="1581150"/>
          <a:ext xmlns:a="http://schemas.openxmlformats.org/drawingml/2006/main" cx="7524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e0f5b32391c431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9DD6E9-1C63-4380-A765-41BF3709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76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85,06%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394389-4917-4415-A394-C68E9340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Deformable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DFB7C5-2058-43B2-BEF6-1678A975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909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+1,37 п.п. к обычной 3×3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D25AB2-6C1C-4738-BDB5-80D33563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38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Результат одного запуска, без проверки статистической значимости</a:t>
            </a:r>
          </a:p>
        </p:txBody>
      </p:sp>
    </p:spTree>
    <p:extLst>
      <p:ext uri="{BB962C8B-B14F-4D97-AF65-F5344CB8AC3E}">
        <p14:creationId xmlns:p14="http://schemas.microsoft.com/office/powerpoint/2010/main" val="199452093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F36284-3BCB-4A9A-9E5B-28326265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Динамика обучения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53B48-2474-4F90-BB4C-0736A1B2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EC202D-6F55-4423-A2CE-4C66F8941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CCC0AD0C-C66D-4458-B423-4E4BB188D286}"/>
              </a:ext>
            </a:extLst>
          </p:cNvPr>
          <p:cNvGraphicFramePr/>
          <p:nvPr/>
        </p:nvGraphicFramePr>
        <p:xfrm>
          <a:off xmlns:a="http://schemas.openxmlformats.org/drawingml/2006/main" x="762000" y="1524000"/>
          <a:ext xmlns:a="http://schemas.openxmlformats.org/drawingml/2006/main" cx="80962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fd1ace0fe7e43c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78DD56-67BE-48EE-8537-4595070A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955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Каждая линия: один запуск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86DF2F-79FE-4EB6-AA21-F7935427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67050"/>
            <a:ext cx="209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Доверительный интервал требует нескольких независимых seed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A10B4-CF71-4A26-BDFB-7D7DCC7A9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Кривые нужны, чтобы показать сходимость, а не оценить разброс</a:t>
            </a:r>
          </a:p>
        </p:txBody>
      </p:sp>
    </p:spTree>
    <p:extLst>
      <p:ext uri="{BB962C8B-B14F-4D97-AF65-F5344CB8AC3E}">
        <p14:creationId xmlns:p14="http://schemas.microsoft.com/office/powerpoint/2010/main" val="206279375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01BD51-EE26-470F-8D78-798218CA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Карты признаков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0895D6-8F4F-4932-AD22-62E93AF7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D0E945-EFB1-45CB-B85E-771C8172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B92D0-FA41-43E4-95C9-4F29F699A1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a26dabfcf47fe"/>
          <a:stretch xmlns:a="http://schemas.openxmlformats.org/drawingml/2006/main"/>
        </p:blipFill>
        <p:spPr>
          <a:xfrm xmlns:a="http://schemas.openxmlformats.org/drawingml/2006/main">
            <a:off x="5723334" y="1428750"/>
            <a:ext cx="4250531" cy="4857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BE799-3CC8-498C-9DAB-D5429123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716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Один вход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EA7749-C90E-4C49-8FF8-51BEE0B1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Средняя абсолютная активация по каналам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A859A2-38C9-459A-A76E-C075E640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Stage 1 и stage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0057DD-CDD2-41C7-BC10-89D8866E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624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Сравниваем структуру, а не яркость между панелями</a:t>
            </a:r>
          </a:p>
        </p:txBody>
      </p:sp>
    </p:spTree>
    <p:extLst>
      <p:ext uri="{BB962C8B-B14F-4D97-AF65-F5344CB8AC3E}">
        <p14:creationId xmlns:p14="http://schemas.microsoft.com/office/powerpoint/2010/main" val="10064487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804774-8AC7-4ECE-8557-580BB242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Offsets deformable convolution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24C2F8-4D6C-48EA-B8E8-794EFF08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0DB920-C466-4778-9FAD-54035573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98104-6E58-4396-941B-BC676E7AD2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55d9e4c4ef4a6a"/>
          <a:stretch xmlns:a="http://schemas.openxmlformats.org/drawingml/2006/main"/>
        </p:blipFill>
        <p:spPr>
          <a:xfrm xmlns:a="http://schemas.openxmlformats.org/drawingml/2006/main">
            <a:off x="704850" y="1919764"/>
            <a:ext cx="7486650" cy="237077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39BC9-2EFA-480E-9DB0-63F3D876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Нулевые offsets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0AD203-7A12-43B6-B842-B05B1907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24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обычная 3×3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06B85D-F561-40DE-8184-62E5855A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099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После обучения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BAC20D-2800-47D5-A236-FCB590541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8671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смещения зависят от позиции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196710-7FEB-41F0-B701-F51ECC4A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81600"/>
            <a:ext cx="10363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0F25B4-7574-4498-960A-CC27CA22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1000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Цветовые шкалы различаются. Сравниваем порядок величин и структуру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7A6393-C7F6-4F2E-BA30-ABAF68C73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00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При нулевых offsets DCNv1 совпадает с обычной свёрткой</a:t>
            </a:r>
          </a:p>
        </p:txBody>
      </p:sp>
    </p:spTree>
    <p:extLst>
      <p:ext uri="{BB962C8B-B14F-4D97-AF65-F5344CB8AC3E}">
        <p14:creationId xmlns:p14="http://schemas.microsoft.com/office/powerpoint/2010/main" val="12934597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60133E-5A2A-49D2-A02D-4D64E612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Когда применять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BEA7CF-627F-4974-85FF-329B8B05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AA14D-B514-4320-83D1-B7DA1BE5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697C5-F8E7-4333-9846-22F2430D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133350" cy="6858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6798AB-42C2-4C44-A318-D3255E81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7145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Обычная 3×3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C0B01-6FAF-488A-8152-C6E291AA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145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надёжный 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1D79F1-B9AA-4554-A40E-5FB0AA2B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76500"/>
            <a:ext cx="952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C9660B-A139-4A26-8C36-7D71973B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33350" cy="6858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3BD751-9DB7-43EE-A475-6D20526CA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Dilated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89491A-56A2-4B30-B71D-8230EFAE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051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нужен больший контекст при том же разрешении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1B6949-9914-4358-A848-C3D8D2922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67100"/>
            <a:ext cx="952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9839A8-E95E-4968-82DC-E4FBD70B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133350" cy="6858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6E92AD-50DA-4AC7-A99C-8A874668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957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Depthwise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7364C3-5A2A-457F-BC24-0FAC3024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957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важны память и число вычислений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AFDB37-AFD1-40E1-8E72-50D9A0A6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952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C8553C-27FF-49C6-9CB5-E3D268290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133350" cy="6858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9525">
            <a:solidFill>
              <a:srgbClr val="E76F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F90839-667F-42FA-BCA0-7F1B3192D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863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Deformable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2F7A95-5FD5-49FF-B890-4B2AAA6B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863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объекты меняют форму и положение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C0761E-1677-47F9-8775-5BB9BC11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Оператор выбирают по ограничению задачи, а не по одной метрике</a:t>
            </a:r>
          </a:p>
        </p:txBody>
      </p:sp>
    </p:spTree>
    <p:extLst>
      <p:ext uri="{BB962C8B-B14F-4D97-AF65-F5344CB8AC3E}">
        <p14:creationId xmlns:p14="http://schemas.microsoft.com/office/powerpoint/2010/main" val="13552448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0EE503-B333-413E-8AC3-72EA169B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Выводы и ограничения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FE8782-97C8-4950-81A6-C1EB69A9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0E0D94-89DA-4835-8246-77275958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3C678-B543-4578-AAAD-70A60428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33550"/>
            <a:ext cx="133350" cy="59055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7A5F5-5CE3-40DE-9AB4-CD51A119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85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Dilated: качество как у обычной 3×3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CB0976-847F-4E4F-AF1F-3920A8E90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133350" cy="59055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46490-1134-4721-9607-C4213A7D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24150"/>
            <a:ext cx="485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Depthwise: −84,4% MACs, но −8,98 п.п. точности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BD9567-B41A-4FF2-8354-623FE0F5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133350" cy="59055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9525">
            <a:solidFill>
              <a:srgbClr val="E76F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8B8646-2AAC-491C-BE30-2A3BBBCA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38550"/>
            <a:ext cx="485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Deformable: лучший результат, но дороже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ACAE3A-23FF-473E-B6A1-2A3CB7F1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81150"/>
            <a:ext cx="1905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D9D7B3-E84D-43A5-B850-943FC67E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7145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Ограничения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F1484D-4F89-4268-9FD8-966275E5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24100"/>
            <a:ext cx="342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Один seed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Нет доверительного интервала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Классификация 32×32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Прямая замена операторов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36FEB4-E8F6-4722-BF53-EC37AE32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18160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Следующий шаг: несколько seed и semantic segmentation</a:t>
            </a:r>
          </a:p>
        </p:txBody>
      </p:sp>
    </p:spTree>
    <p:extLst>
      <p:ext uri="{BB962C8B-B14F-4D97-AF65-F5344CB8AC3E}">
        <p14:creationId xmlns:p14="http://schemas.microsoft.com/office/powerpoint/2010/main" val="87300897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C3695F-DAE2-4911-A6C8-5F235454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Источники и проект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374A17-45B4-417E-B43D-2263E2D8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7BCBF6-AB53-4DE6-9FD9-A3436B29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45D5D1-BC79-4F12-ACD9-BE05C7F4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2870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Yu, Koltun. Dilated Convolutions. 2015. arxiv.org/abs/1511.07122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Howard et al. MobileNets. 2017. arxiv.org/abs/1704.04861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Dai et al. Deformable Convolutional Networks. 2017. arxiv.org/abs/1703.06211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Krizhevsky. CIFAR-10. 2009. cs.toronto.edu/~kriz/cifar.html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PyTorch Conv2d. docs.pytorch.org/docs/stable/generated/torch.nn.Conv2d.html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659D09-8D5B-4804-A4FD-48E0488E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10363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91DF54-A14B-4D63-9ED8-D1D85ECC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Код, результаты и презентация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859D8-383D-4F83-964A-A017325C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388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github.com/grilzzz/conv_presentation</a:t>
            </a:r>
          </a:p>
        </p:txBody>
      </p:sp>
    </p:spTree>
    <p:extLst>
      <p:ext uri="{BB962C8B-B14F-4D97-AF65-F5344CB8AC3E}">
        <p14:creationId xmlns:p14="http://schemas.microsoft.com/office/powerpoint/2010/main" val="20132776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2026-10-09T11:36:23.1950000Z</dcterms:created>
  <dcterms:modified xsi:type="dcterms:W3CDTF">2026-10-09T11:36:23.1950000Z</dcterms:modified>
</coreProperties>
</file>