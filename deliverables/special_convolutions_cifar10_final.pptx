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1ba9abd8be44aa" /><Relationship Type="http://schemas.openxmlformats.org/officeDocument/2006/relationships/extended-properties" Target="/docProps/app.xml" Id="Rf5c61e2eca5e4d1a" /><Relationship Type="http://schemas.openxmlformats.org/officeDocument/2006/relationships/officeDocument" Target="/ppt/presentation.xml" Id="R8391c14b17cf47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ac86fb9a164792"/>
  </p:sldMasterIdLst>
  <p:notesMasterIdLst>
    <p:notesMasterId xmlns:r="http://schemas.openxmlformats.org/officeDocument/2006/relationships" r:id="R4c13a738561d46d8"/>
  </p:notesMasterIdLst>
  <p:sldIdLst>
    <p:sldId xmlns:r="http://schemas.openxmlformats.org/officeDocument/2006/relationships" id="256" r:id="R644a643a3b6a4040"/>
    <p:sldId xmlns:r="http://schemas.openxmlformats.org/officeDocument/2006/relationships" id="257" r:id="R43be1a44274b479e"/>
    <p:sldId xmlns:r="http://schemas.openxmlformats.org/officeDocument/2006/relationships" id="258" r:id="R7143c9630bbc4ccd"/>
    <p:sldId xmlns:r="http://schemas.openxmlformats.org/officeDocument/2006/relationships" id="259" r:id="R019298490b4449e7"/>
    <p:sldId xmlns:r="http://schemas.openxmlformats.org/officeDocument/2006/relationships" id="260" r:id="Re55d211fdf6f4b1b"/>
    <p:sldId xmlns:r="http://schemas.openxmlformats.org/officeDocument/2006/relationships" id="261" r:id="R0a4f89a2577844e3"/>
    <p:sldId xmlns:r="http://schemas.openxmlformats.org/officeDocument/2006/relationships" id="262" r:id="Ree0fde8f127343a9"/>
    <p:sldId xmlns:r="http://schemas.openxmlformats.org/officeDocument/2006/relationships" id="263" r:id="R3e93a3a3de534468"/>
    <p:sldId xmlns:r="http://schemas.openxmlformats.org/officeDocument/2006/relationships" id="264" r:id="Rcf4b409ded584bbe"/>
    <p:sldId xmlns:r="http://schemas.openxmlformats.org/officeDocument/2006/relationships" id="265" r:id="R44075662581c4e25"/>
    <p:sldId xmlns:r="http://schemas.openxmlformats.org/officeDocument/2006/relationships" id="266" r:id="R00eae5b08ac44054"/>
    <p:sldId xmlns:r="http://schemas.openxmlformats.org/officeDocument/2006/relationships" id="267" r:id="R607701c036c54ecd"/>
    <p:sldId xmlns:r="http://schemas.openxmlformats.org/officeDocument/2006/relationships" id="268" r:id="Re0506864c1a44ac7"/>
    <p:sldId xmlns:r="http://schemas.openxmlformats.org/officeDocument/2006/relationships" id="269" r:id="R9a407ca89781456a"/>
    <p:sldId xmlns:r="http://schemas.openxmlformats.org/officeDocument/2006/relationships" id="270" r:id="R050b3b3abccb4669"/>
    <p:sldId xmlns:r="http://schemas.openxmlformats.org/officeDocument/2006/relationships" id="271" r:id="Rb94f877788994b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f2c16fe615422e" /><Relationship Type="http://schemas.openxmlformats.org/officeDocument/2006/relationships/slideMaster" Target="/ppt/slideMasters/slideMaster1.xml" Id="R0eac86fb9a164792" /><Relationship Type="http://schemas.openxmlformats.org/officeDocument/2006/relationships/notesMaster" Target="/ppt/notesMasters/notesMaster1.xml" Id="R4c13a738561d46d8" /><Relationship Type="http://schemas.openxmlformats.org/officeDocument/2006/relationships/presProps" Target="/ppt/presProps.xml" Id="Rd3be59d909fb4626" /><Relationship Type="http://schemas.openxmlformats.org/officeDocument/2006/relationships/tableStyles" Target="/ppt/tableStyles.xml" Id="R82506a8d49654202" /><Relationship Type="http://schemas.openxmlformats.org/officeDocument/2006/relationships/slide" Target="/ppt/slides/slide1.xml" Id="R644a643a3b6a4040" /><Relationship Type="http://schemas.openxmlformats.org/officeDocument/2006/relationships/slide" Target="/ppt/slides/slide2.xml" Id="R43be1a44274b479e" /><Relationship Type="http://schemas.openxmlformats.org/officeDocument/2006/relationships/slide" Target="/ppt/slides/slide3.xml" Id="R7143c9630bbc4ccd" /><Relationship Type="http://schemas.openxmlformats.org/officeDocument/2006/relationships/slide" Target="/ppt/slides/slide4.xml" Id="R019298490b4449e7" /><Relationship Type="http://schemas.openxmlformats.org/officeDocument/2006/relationships/slide" Target="/ppt/slides/slide5.xml" Id="Re55d211fdf6f4b1b" /><Relationship Type="http://schemas.openxmlformats.org/officeDocument/2006/relationships/slide" Target="/ppt/slides/slide6.xml" Id="R0a4f89a2577844e3" /><Relationship Type="http://schemas.openxmlformats.org/officeDocument/2006/relationships/slide" Target="/ppt/slides/slide7.xml" Id="Ree0fde8f127343a9" /><Relationship Type="http://schemas.openxmlformats.org/officeDocument/2006/relationships/slide" Target="/ppt/slides/slide8.xml" Id="R3e93a3a3de534468" /><Relationship Type="http://schemas.openxmlformats.org/officeDocument/2006/relationships/slide" Target="/ppt/slides/slide9.xml" Id="Rcf4b409ded584bbe" /><Relationship Type="http://schemas.openxmlformats.org/officeDocument/2006/relationships/slide" Target="/ppt/slides/slide10.xml" Id="R44075662581c4e25" /><Relationship Type="http://schemas.openxmlformats.org/officeDocument/2006/relationships/slide" Target="/ppt/slides/slide11.xml" Id="R00eae5b08ac44054" /><Relationship Type="http://schemas.openxmlformats.org/officeDocument/2006/relationships/slide" Target="/ppt/slides/slide12.xml" Id="R607701c036c54ecd" /><Relationship Type="http://schemas.openxmlformats.org/officeDocument/2006/relationships/slide" Target="/ppt/slides/slide13.xml" Id="Re0506864c1a44ac7" /><Relationship Type="http://schemas.openxmlformats.org/officeDocument/2006/relationships/slide" Target="/ppt/slides/slide14.xml" Id="R9a407ca89781456a" /><Relationship Type="http://schemas.openxmlformats.org/officeDocument/2006/relationships/slide" Target="/ppt/slides/slide15.xml" Id="R050b3b3abccb4669" /><Relationship Type="http://schemas.openxmlformats.org/officeDocument/2006/relationships/slide" Target="/ppt/slides/slide16.xml" Id="Rb94f877788994b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fd6b8d54514b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6d841c10894c02" /><Relationship Type="http://schemas.openxmlformats.org/officeDocument/2006/relationships/notesMaster" Target="/ppt/notesMasters/notesMaster1.xml" Id="Rd621011367d64c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d9e20dbeca4d11" /><Relationship Type="http://schemas.openxmlformats.org/officeDocument/2006/relationships/notesMaster" Target="/ppt/notesMasters/notesMaster1.xml" Id="Ra5a2f28a6a2b4e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bdb6731a4244fa" /><Relationship Type="http://schemas.openxmlformats.org/officeDocument/2006/relationships/notesMaster" Target="/ppt/notesMasters/notesMaster1.xml" Id="R31c3cf75c7de45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053edeae504926" /><Relationship Type="http://schemas.openxmlformats.org/officeDocument/2006/relationships/notesMaster" Target="/ppt/notesMasters/notesMaster1.xml" Id="R64f0a3f0179b41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fcb363266845aa" /><Relationship Type="http://schemas.openxmlformats.org/officeDocument/2006/relationships/notesMaster" Target="/ppt/notesMasters/notesMaster1.xml" Id="R4e671f97c9fd42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437c52e77f49d3" /><Relationship Type="http://schemas.openxmlformats.org/officeDocument/2006/relationships/notesMaster" Target="/ppt/notesMasters/notesMaster1.xml" Id="Rb84378da992142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ba610bb0b0410f" /><Relationship Type="http://schemas.openxmlformats.org/officeDocument/2006/relationships/notesMaster" Target="/ppt/notesMasters/notesMaster1.xml" Id="R5ff29a5fbe0c4d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a465c7cb2144b2" /><Relationship Type="http://schemas.openxmlformats.org/officeDocument/2006/relationships/notesMaster" Target="/ppt/notesMasters/notesMaster1.xml" Id="R3f41010d0af74e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443851326c40cd" /><Relationship Type="http://schemas.openxmlformats.org/officeDocument/2006/relationships/notesMaster" Target="/ppt/notesMasters/notesMaster1.xml" Id="R3844a4b18fb048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ada95e2ce5431d" /><Relationship Type="http://schemas.openxmlformats.org/officeDocument/2006/relationships/notesMaster" Target="/ppt/notesMasters/notesMaster1.xml" Id="R4f90d323b92342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c1190739a1430a" /><Relationship Type="http://schemas.openxmlformats.org/officeDocument/2006/relationships/notesMaster" Target="/ppt/notesMasters/notesMaster1.xml" Id="R5ed1a8162871484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e47f40bb8c44c6" /><Relationship Type="http://schemas.openxmlformats.org/officeDocument/2006/relationships/notesMaster" Target="/ppt/notesMasters/notesMaster1.xml" Id="R9aab56641aab4f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200aa664d424ef3" /><Relationship Type="http://schemas.openxmlformats.org/officeDocument/2006/relationships/notesMaster" Target="/ppt/notesMasters/notesMaster1.xml" Id="Rd8b60306578f4d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6a26ca876e4b23" /><Relationship Type="http://schemas.openxmlformats.org/officeDocument/2006/relationships/notesMaster" Target="/ppt/notesMasters/notesMaster1.xml" Id="R55424a136d804b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e302d7fefb04228" /><Relationship Type="http://schemas.openxmlformats.org/officeDocument/2006/relationships/notesMaster" Target="/ppt/notesMasters/notesMaster1.xml" Id="R7e9004cbd1b04e9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98f85834424132" /><Relationship Type="http://schemas.openxmlformats.org/officeDocument/2006/relationships/notesMaster" Target="/ppt/notesMasters/notesMaster1.xml" Id="R57af1f6f96a14b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CIFAR-10: https://www.cs.toronto.edu/~kriz/cifar.html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Yu &amp; Koltun, 2015: https://arxiv.org/abs/1511.07122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MobileNets: https://arxiv.org/abs/1704.04861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Dai et al., 2017: https://arxiv.org/abs/1703.06211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MNIST: http://yann.lecun.com/exdb/mnist/; скрипт: scripts/make_operator_demo.py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Результаты: outputs_full/metrics.csv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Результаты: outputs_full/metrics.csv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Результаты по эпохам: outputs_full/training_history.csv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Результат: outputs_full/feature_maps.png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Dai et al., 2017: https://arxiv.org/abs/1703.06211; результат: outputs_full/deform_offsets.png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Результаты: outputs_full/metrics.csv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Полные ссылки: research/SOURCES.md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b9920588f940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20f902806a4ce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9baca41e304a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de43e83ad540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ea2cbc7eaa42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ce7bb32a847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EFA129-26D8-4141-A1C3-EC82A2229A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C60355-C62A-4A40-B4C0-36E35BF85E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5AE3655-22F4-465A-A81F-D462A9E341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6C7642-D3FC-4C31-A9FC-C119635BA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50BAA14-31E8-4DFA-A15A-1A3617FD03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420F8B-194F-49B4-A1B0-CCDE71B098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45A9D8-A34A-4ACC-A192-DCE622F637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24DA302-2F80-4CD6-B973-899DF30CB1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ECDC6E-0C76-4520-B48D-00966C82CF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02C26D-866B-44CF-A0B8-36173D1E86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b48dd0479b4192" /><Relationship Type="http://schemas.openxmlformats.org/officeDocument/2006/relationships/slideLayout" Target="/ppt/slideLayouts/slideLayout1.xml" Id="R3dca8a63b06349d0" /><Relationship Type="http://schemas.openxmlformats.org/officeDocument/2006/relationships/slideLayout" Target="/ppt/slideLayouts/slideLayout2.xml" Id="Rc1fea77aef154561" /><Relationship Type="http://schemas.openxmlformats.org/officeDocument/2006/relationships/slideLayout" Target="/ppt/slideLayouts/slideLayout3.xml" Id="Rfa14c40d367747d1" /><Relationship Type="http://schemas.openxmlformats.org/officeDocument/2006/relationships/slideLayout" Target="/ppt/slideLayouts/slideLayout4.xml" Id="R1ffb1ce267384feb" /><Relationship Type="http://schemas.openxmlformats.org/officeDocument/2006/relationships/slideLayout" Target="/ppt/slideLayouts/slideLayout5.xml" Id="Rc6f6765daace4aac" /><Relationship Type="http://schemas.openxmlformats.org/officeDocument/2006/relationships/slideLayout" Target="/ppt/slideLayouts/slideLayout6.xml" Id="Ra89618706e0141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ca8a63b06349d0"/>
    <p:sldLayoutId xmlns:r="http://schemas.openxmlformats.org/officeDocument/2006/relationships" id="2147483650" r:id="Rc1fea77aef154561"/>
    <p:sldLayoutId xmlns:r="http://schemas.openxmlformats.org/officeDocument/2006/relationships" id="2147483651" r:id="Rfa14c40d367747d1"/>
    <p:sldLayoutId xmlns:r="http://schemas.openxmlformats.org/officeDocument/2006/relationships" id="2147483652" r:id="R1ffb1ce267384feb"/>
    <p:sldLayoutId xmlns:r="http://schemas.openxmlformats.org/officeDocument/2006/relationships" id="2147483653" r:id="Rc6f6765daace4aac"/>
    <p:sldLayoutId xmlns:r="http://schemas.openxmlformats.org/officeDocument/2006/relationships" id="2147483654" r:id="Ra89618706e0141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057fe354c419c" /><Relationship Type="http://schemas.openxmlformats.org/officeDocument/2006/relationships/notesSlide" Target="/ppt/notesSlides/notesSlide1.xml" Id="Rdd686794eefb43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8e90a5fc44ade" /><Relationship Type="http://schemas.openxmlformats.org/officeDocument/2006/relationships/notesSlide" Target="/ppt/notesSlides/notesSlide2.xml" Id="Ra0018367184040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91df465aac4cdd" /><Relationship Type="http://schemas.openxmlformats.org/officeDocument/2006/relationships/notesSlide" Target="/ppt/notesSlides/notesSlide3.xml" Id="R44eb7805525c4c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42a836ff704801" /><Relationship Type="http://schemas.openxmlformats.org/officeDocument/2006/relationships/notesSlide" Target="/ppt/notesSlides/notesSlide4.xml" Id="R6f93cc2218bd48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0e04f4236143e0" /><Relationship Type="http://schemas.openxmlformats.org/officeDocument/2006/relationships/notesSlide" Target="/ppt/notesSlides/notesSlide5.xml" Id="R40ac52b98ce343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7461012f04134" /><Relationship Type="http://schemas.openxmlformats.org/officeDocument/2006/relationships/notesSlide" Target="/ppt/notesSlides/notesSlide6.xml" Id="R36a8943ffd2348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8b426890ba4592" /><Relationship Type="http://schemas.openxmlformats.org/officeDocument/2006/relationships/image" Target="/ppt/media/image.png" Id="R2c0518494c0d453d" /><Relationship Type="http://schemas.openxmlformats.org/officeDocument/2006/relationships/notesSlide" Target="/ppt/notesSlides/notesSlide7.xml" Id="Rbe55040e2e4249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5e01e6cee34dde" /><Relationship Type="http://schemas.openxmlformats.org/officeDocument/2006/relationships/notesSlide" Target="/ppt/notesSlides/notesSlide8.xml" Id="R15df4eacc80b4a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52f05c2754457d" /><Relationship Type="http://schemas.openxmlformats.org/officeDocument/2006/relationships/chart" Target="/ppt/slides/charts/chart1.xml" Id="R66e807f6fb18481a" /><Relationship Type="http://schemas.openxmlformats.org/officeDocument/2006/relationships/chart" Target="/ppt/slides/charts/chart2.xml" Id="R1659c88385964cc4" /><Relationship Type="http://schemas.openxmlformats.org/officeDocument/2006/relationships/notesSlide" Target="/ppt/notesSlides/notesSlide9.xml" Id="R6bdb0f813a924c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d0189ca7a54ab2" /><Relationship Type="http://schemas.openxmlformats.org/officeDocument/2006/relationships/chart" Target="/ppt/slides/charts/chart3.xml" Id="R3ad805d54f6743ff" /><Relationship Type="http://schemas.openxmlformats.org/officeDocument/2006/relationships/notesSlide" Target="/ppt/notesSlides/notesSlide10.xml" Id="Re128b69176e84f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aed461d7ed492f" /><Relationship Type="http://schemas.openxmlformats.org/officeDocument/2006/relationships/chart" Target="/ppt/slides/charts/chart4.xml" Id="Rdaf38afe2f5f4be2" /><Relationship Type="http://schemas.openxmlformats.org/officeDocument/2006/relationships/notesSlide" Target="/ppt/notesSlides/notesSlide11.xml" Id="R10ff2336277447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48f5a64f584809" /><Relationship Type="http://schemas.openxmlformats.org/officeDocument/2006/relationships/image" Target="/ppt/media/image2.png" Id="R576f6f3cb61044a5" /><Relationship Type="http://schemas.openxmlformats.org/officeDocument/2006/relationships/notesSlide" Target="/ppt/notesSlides/notesSlide12.xml" Id="R95d0750168f046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1c98306d6545fc" /><Relationship Type="http://schemas.openxmlformats.org/officeDocument/2006/relationships/image" Target="/ppt/media/image3.png" Id="Rf3bd1699ad5341dc" /><Relationship Type="http://schemas.openxmlformats.org/officeDocument/2006/relationships/notesSlide" Target="/ppt/notesSlides/notesSlide13.xml" Id="Rf392a8ef97df4c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edfc1b6c204bfc" /><Relationship Type="http://schemas.openxmlformats.org/officeDocument/2006/relationships/notesSlide" Target="/ppt/notesSlides/notesSlide14.xml" Id="Rb780aec0427d4a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180bbbc8034ef4" /><Relationship Type="http://schemas.openxmlformats.org/officeDocument/2006/relationships/notesSlide" Target="/ppt/notesSlides/notesSlide15.xml" Id="Rdce8cb157a244da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69ae8ffe4d4529" /><Relationship Type="http://schemas.openxmlformats.org/officeDocument/2006/relationships/notesSlide" Target="/ppt/notesSlides/notesSlide16.xml" Id="Rf31688baaa4841a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тыс.</c:v>
          </c:tx>
          <c:dPt>
            <c:idx val="0"/>
            <c:invertIfNegative val="0"/>
            <c:spPr>
              <a:solidFill xmlns:a="http://schemas.openxmlformats.org/drawingml/2006/main">
                <a:srgbClr val="2563E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C3AE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F9D8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76F51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Обычная 3×3</c:v>
                </c:pt>
                <c:pt idx="1">
                  <c:v>Dilated d=2</c:v>
                </c:pt>
                <c:pt idx="2">
                  <c:v>Depthwise</c:v>
                </c:pt>
                <c:pt idx="3">
                  <c:v>Deformable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98.97</c:v>
                </c:pt>
                <c:pt idx="1">
                  <c:v>98.97</c:v>
                </c:pt>
                <c:pt idx="2">
                  <c:v>13.96</c:v>
                </c:pt>
                <c:pt idx="3">
                  <c:v>117.39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1D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solidFill>
        <a:srgbClr val="F7F5F0"/>
      </a:solidFill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млн</c:v>
          </c:tx>
          <c:dPt>
            <c:idx val="0"/>
            <c:invertIfNegative val="0"/>
            <c:spPr>
              <a:solidFill xmlns:a="http://schemas.openxmlformats.org/drawingml/2006/main">
                <a:srgbClr val="2563E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C3AE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F9D8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76F51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Обычная 3×3</c:v>
                </c:pt>
                <c:pt idx="1">
                  <c:v>Dilated d=2</c:v>
                </c:pt>
                <c:pt idx="2">
                  <c:v>Depthwise</c:v>
                </c:pt>
                <c:pt idx="3">
                  <c:v>Deformable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14.6</c:v>
                </c:pt>
                <c:pt idx="1">
                  <c:v>14.6</c:v>
                </c:pt>
                <c:pt idx="2">
                  <c:v>2.27</c:v>
                </c:pt>
                <c:pt idx="3">
                  <c:v>19.24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1D8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solidFill>
        <a:srgbClr val="F7F5F0"/>
      </a:solidFill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Test accuracy, %</c:v>
          </c:tx>
          <c:dPt>
            <c:idx val="0"/>
            <c:invertIfNegative val="0"/>
            <c:spPr>
              <a:solidFill xmlns:a="http://schemas.openxmlformats.org/drawingml/2006/main">
                <a:srgbClr val="2563E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C3AE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0F9D8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E76F51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Обычная 3×3</c:v>
                </c:pt>
                <c:pt idx="1">
                  <c:v>Dilated d=2</c:v>
                </c:pt>
                <c:pt idx="2">
                  <c:v>Depthwise</c:v>
                </c:pt>
                <c:pt idx="3">
                  <c:v>Deformable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83.69</c:v>
                </c:pt>
                <c:pt idx="1">
                  <c:v>83.57</c:v>
                </c:pt>
                <c:pt idx="2">
                  <c:v>74.71</c:v>
                </c:pt>
                <c:pt idx="3">
                  <c:v>85.06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0">
                  <a:solidFill>
                    <a:srgbClr val="111827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7"/>
          <c:min val="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1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Accuracy,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7F5F0"/>
        </a:solidFill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solidFill>
        <a:srgbClr val="F7F5F0"/>
      </a:solidFill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Обычная 3×3</c:v>
          </c:tx>
          <c:spPr>
            <a:ln xmlns:a="http://schemas.openxmlformats.org/drawingml/2006/main" w="28575">
              <a:solidFill>
                <a:srgbClr val="2563EB"/>
              </a:solidFill>
              <a:prstDash val="solid"/>
            </a:ln>
          </c:spPr>
          <c:marker>
            <c:symbol val="circle"/>
            <c:size val="2"/>
          </c:marker>
          <c:cat>
            <c:numRef>
              <c:f>'Chart Data'!$A$2:$A$51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cat>
          <c:val>
            <c:numRef>
              <c:f>'Chart Data'!$B$2:$B$51</c:f>
              <c:numCache>
                <c:formatCode>General</c:formatCode>
                <c:ptCount val="50"/>
                <c:pt idx="0">
                  <c:v>50.12</c:v>
                </c:pt>
                <c:pt idx="1">
                  <c:v>61</c:v>
                </c:pt>
                <c:pt idx="2">
                  <c:v>60.7</c:v>
                </c:pt>
                <c:pt idx="3">
                  <c:v>67.22</c:v>
                </c:pt>
                <c:pt idx="4">
                  <c:v>68.66</c:v>
                </c:pt>
                <c:pt idx="5">
                  <c:v>68.58</c:v>
                </c:pt>
                <c:pt idx="6">
                  <c:v>68.68</c:v>
                </c:pt>
                <c:pt idx="7">
                  <c:v>68.52</c:v>
                </c:pt>
                <c:pt idx="8">
                  <c:v>68.5</c:v>
                </c:pt>
                <c:pt idx="9">
                  <c:v>74.72</c:v>
                </c:pt>
                <c:pt idx="10">
                  <c:v>72.7</c:v>
                </c:pt>
                <c:pt idx="11">
                  <c:v>74.86</c:v>
                </c:pt>
                <c:pt idx="12">
                  <c:v>73.28</c:v>
                </c:pt>
                <c:pt idx="13">
                  <c:v>74.82</c:v>
                </c:pt>
                <c:pt idx="14">
                  <c:v>77.84</c:v>
                </c:pt>
                <c:pt idx="15">
                  <c:v>75</c:v>
                </c:pt>
                <c:pt idx="16">
                  <c:v>78.14</c:v>
                </c:pt>
                <c:pt idx="17">
                  <c:v>79.14</c:v>
                </c:pt>
                <c:pt idx="18">
                  <c:v>79.7</c:v>
                </c:pt>
                <c:pt idx="19">
                  <c:v>78.94</c:v>
                </c:pt>
                <c:pt idx="20">
                  <c:v>78.54</c:v>
                </c:pt>
                <c:pt idx="21">
                  <c:v>79.3</c:v>
                </c:pt>
                <c:pt idx="22">
                  <c:v>79.5</c:v>
                </c:pt>
                <c:pt idx="23">
                  <c:v>80.78</c:v>
                </c:pt>
                <c:pt idx="24">
                  <c:v>80.4</c:v>
                </c:pt>
                <c:pt idx="25">
                  <c:v>81.1</c:v>
                </c:pt>
                <c:pt idx="26">
                  <c:v>79.46</c:v>
                </c:pt>
                <c:pt idx="27">
                  <c:v>80.56</c:v>
                </c:pt>
                <c:pt idx="28">
                  <c:v>81.82</c:v>
                </c:pt>
                <c:pt idx="29">
                  <c:v>82.04</c:v>
                </c:pt>
                <c:pt idx="30">
                  <c:v>81.84</c:v>
                </c:pt>
                <c:pt idx="31">
                  <c:v>82.64</c:v>
                </c:pt>
                <c:pt idx="32">
                  <c:v>82.48</c:v>
                </c:pt>
                <c:pt idx="33">
                  <c:v>82.62</c:v>
                </c:pt>
                <c:pt idx="34">
                  <c:v>82.76</c:v>
                </c:pt>
                <c:pt idx="35">
                  <c:v>82.88</c:v>
                </c:pt>
                <c:pt idx="36">
                  <c:v>82.9</c:v>
                </c:pt>
                <c:pt idx="37">
                  <c:v>83</c:v>
                </c:pt>
                <c:pt idx="38">
                  <c:v>82.94</c:v>
                </c:pt>
                <c:pt idx="39">
                  <c:v>83.34</c:v>
                </c:pt>
                <c:pt idx="40">
                  <c:v>83.08</c:v>
                </c:pt>
                <c:pt idx="41">
                  <c:v>83.38</c:v>
                </c:pt>
                <c:pt idx="42">
                  <c:v>83.5</c:v>
                </c:pt>
                <c:pt idx="43">
                  <c:v>83.52</c:v>
                </c:pt>
                <c:pt idx="44">
                  <c:v>83.58</c:v>
                </c:pt>
                <c:pt idx="45">
                  <c:v>83.56</c:v>
                </c:pt>
                <c:pt idx="46">
                  <c:v>83.46</c:v>
                </c:pt>
                <c:pt idx="47">
                  <c:v>83.56</c:v>
                </c:pt>
                <c:pt idx="48">
                  <c:v>83.56</c:v>
                </c:pt>
                <c:pt idx="49">
                  <c:v>83.62</c:v>
                </c:pt>
              </c:numCache>
            </c:numRef>
          </c:val>
          <c:smooth val="0"/>
        </c:ser>
        <c:ser>
          <c:idx val="1"/>
          <c:order val="1"/>
          <c:tx>
            <c:v>Dilated d=2</c:v>
          </c:tx>
          <c:spPr>
            <a:ln xmlns:a="http://schemas.openxmlformats.org/drawingml/2006/main" w="28575">
              <a:solidFill>
                <a:srgbClr val="7C3AED"/>
              </a:solidFill>
              <a:prstDash val="solid"/>
            </a:ln>
          </c:spPr>
          <c:marker>
            <c:symbol val="circle"/>
            <c:size val="2"/>
          </c:marker>
          <c:cat>
            <c:numRef>
              <c:f>'Chart Data'!$C$2:$C$51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cat>
          <c:val>
            <c:numRef>
              <c:f>'Chart Data'!$D$2:$D$51</c:f>
              <c:numCache>
                <c:formatCode>General</c:formatCode>
                <c:ptCount val="50"/>
                <c:pt idx="0">
                  <c:v>50.04</c:v>
                </c:pt>
                <c:pt idx="1">
                  <c:v>58.34</c:v>
                </c:pt>
                <c:pt idx="2">
                  <c:v>63.28</c:v>
                </c:pt>
                <c:pt idx="3">
                  <c:v>65.14</c:v>
                </c:pt>
                <c:pt idx="4">
                  <c:v>70.72</c:v>
                </c:pt>
                <c:pt idx="5">
                  <c:v>70.48</c:v>
                </c:pt>
                <c:pt idx="6">
                  <c:v>71.84</c:v>
                </c:pt>
                <c:pt idx="7">
                  <c:v>73.32</c:v>
                </c:pt>
                <c:pt idx="8">
                  <c:v>73.46</c:v>
                </c:pt>
                <c:pt idx="9">
                  <c:v>75.96</c:v>
                </c:pt>
                <c:pt idx="10">
                  <c:v>75.18</c:v>
                </c:pt>
                <c:pt idx="11">
                  <c:v>77.64</c:v>
                </c:pt>
                <c:pt idx="12">
                  <c:v>77.88</c:v>
                </c:pt>
                <c:pt idx="13">
                  <c:v>78.08</c:v>
                </c:pt>
                <c:pt idx="14">
                  <c:v>78.36</c:v>
                </c:pt>
                <c:pt idx="15">
                  <c:v>78.82</c:v>
                </c:pt>
                <c:pt idx="16">
                  <c:v>80.34</c:v>
                </c:pt>
                <c:pt idx="17">
                  <c:v>80.22</c:v>
                </c:pt>
                <c:pt idx="18">
                  <c:v>79.22</c:v>
                </c:pt>
                <c:pt idx="19">
                  <c:v>78.68</c:v>
                </c:pt>
                <c:pt idx="20">
                  <c:v>80.66</c:v>
                </c:pt>
                <c:pt idx="21">
                  <c:v>79.92</c:v>
                </c:pt>
                <c:pt idx="22">
                  <c:v>80.2</c:v>
                </c:pt>
                <c:pt idx="23">
                  <c:v>80.84</c:v>
                </c:pt>
                <c:pt idx="24">
                  <c:v>81.44</c:v>
                </c:pt>
                <c:pt idx="25">
                  <c:v>81.58</c:v>
                </c:pt>
                <c:pt idx="26">
                  <c:v>81.74</c:v>
                </c:pt>
                <c:pt idx="27">
                  <c:v>82.2</c:v>
                </c:pt>
                <c:pt idx="28">
                  <c:v>82.32</c:v>
                </c:pt>
                <c:pt idx="29">
                  <c:v>82.42</c:v>
                </c:pt>
                <c:pt idx="30">
                  <c:v>82.42</c:v>
                </c:pt>
                <c:pt idx="31">
                  <c:v>82.58</c:v>
                </c:pt>
                <c:pt idx="32">
                  <c:v>82.8</c:v>
                </c:pt>
                <c:pt idx="33">
                  <c:v>82.92</c:v>
                </c:pt>
                <c:pt idx="34">
                  <c:v>83.12</c:v>
                </c:pt>
                <c:pt idx="35">
                  <c:v>82.5</c:v>
                </c:pt>
                <c:pt idx="36">
                  <c:v>82.82</c:v>
                </c:pt>
                <c:pt idx="37">
                  <c:v>82.92</c:v>
                </c:pt>
                <c:pt idx="38">
                  <c:v>83.56</c:v>
                </c:pt>
                <c:pt idx="39">
                  <c:v>83.1</c:v>
                </c:pt>
                <c:pt idx="40">
                  <c:v>83.54</c:v>
                </c:pt>
                <c:pt idx="41">
                  <c:v>83.58</c:v>
                </c:pt>
                <c:pt idx="42">
                  <c:v>83.52</c:v>
                </c:pt>
                <c:pt idx="43">
                  <c:v>83.58</c:v>
                </c:pt>
                <c:pt idx="44">
                  <c:v>83.7</c:v>
                </c:pt>
                <c:pt idx="45">
                  <c:v>83.9</c:v>
                </c:pt>
                <c:pt idx="46">
                  <c:v>83.78</c:v>
                </c:pt>
                <c:pt idx="47">
                  <c:v>83.6</c:v>
                </c:pt>
                <c:pt idx="48">
                  <c:v>83.88</c:v>
                </c:pt>
                <c:pt idx="49">
                  <c:v>83.82</c:v>
                </c:pt>
              </c:numCache>
            </c:numRef>
          </c:val>
          <c:smooth val="0"/>
        </c:ser>
        <c:ser>
          <c:idx val="2"/>
          <c:order val="2"/>
          <c:tx>
            <c:v>Depthwise</c:v>
          </c:tx>
          <c:spPr>
            <a:ln xmlns:a="http://schemas.openxmlformats.org/drawingml/2006/main" w="28575">
              <a:solidFill>
                <a:srgbClr val="0F9D8A"/>
              </a:solidFill>
              <a:prstDash val="solid"/>
            </a:ln>
          </c:spPr>
          <c:marker>
            <c:symbol val="circle"/>
            <c:size val="2"/>
          </c:marker>
          <c:cat>
            <c:numRef>
              <c:f>'Chart Data'!$E$2:$E$51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cat>
          <c:val>
            <c:numRef>
              <c:f>'Chart Data'!$F$2:$F$51</c:f>
              <c:numCache>
                <c:formatCode>General</c:formatCode>
                <c:ptCount val="50"/>
                <c:pt idx="0">
                  <c:v>48.64</c:v>
                </c:pt>
                <c:pt idx="1">
                  <c:v>51.04</c:v>
                </c:pt>
                <c:pt idx="2">
                  <c:v>50.98</c:v>
                </c:pt>
                <c:pt idx="3">
                  <c:v>58.68</c:v>
                </c:pt>
                <c:pt idx="4">
                  <c:v>61.26</c:v>
                </c:pt>
                <c:pt idx="5">
                  <c:v>63.32</c:v>
                </c:pt>
                <c:pt idx="6">
                  <c:v>60.04</c:v>
                </c:pt>
                <c:pt idx="7">
                  <c:v>62.42</c:v>
                </c:pt>
                <c:pt idx="8">
                  <c:v>62.92</c:v>
                </c:pt>
                <c:pt idx="9">
                  <c:v>65.02</c:v>
                </c:pt>
                <c:pt idx="10">
                  <c:v>66</c:v>
                </c:pt>
                <c:pt idx="11">
                  <c:v>67.22</c:v>
                </c:pt>
                <c:pt idx="12">
                  <c:v>66.58</c:v>
                </c:pt>
                <c:pt idx="13">
                  <c:v>68.32</c:v>
                </c:pt>
                <c:pt idx="14">
                  <c:v>67.84</c:v>
                </c:pt>
                <c:pt idx="15">
                  <c:v>68.76</c:v>
                </c:pt>
                <c:pt idx="16">
                  <c:v>67.8</c:v>
                </c:pt>
                <c:pt idx="17">
                  <c:v>69.8</c:v>
                </c:pt>
                <c:pt idx="18">
                  <c:v>68.92</c:v>
                </c:pt>
                <c:pt idx="19">
                  <c:v>66.6</c:v>
                </c:pt>
                <c:pt idx="20">
                  <c:v>68.36</c:v>
                </c:pt>
                <c:pt idx="21">
                  <c:v>71.24</c:v>
                </c:pt>
                <c:pt idx="22">
                  <c:v>70.1</c:v>
                </c:pt>
                <c:pt idx="23">
                  <c:v>71.1</c:v>
                </c:pt>
                <c:pt idx="24">
                  <c:v>70.68</c:v>
                </c:pt>
                <c:pt idx="25">
                  <c:v>72.58</c:v>
                </c:pt>
                <c:pt idx="26">
                  <c:v>71.78</c:v>
                </c:pt>
                <c:pt idx="27">
                  <c:v>71.72</c:v>
                </c:pt>
                <c:pt idx="28">
                  <c:v>72.46</c:v>
                </c:pt>
                <c:pt idx="29">
                  <c:v>72.3</c:v>
                </c:pt>
                <c:pt idx="30">
                  <c:v>73.1</c:v>
                </c:pt>
                <c:pt idx="31">
                  <c:v>73.74</c:v>
                </c:pt>
                <c:pt idx="32">
                  <c:v>72.54</c:v>
                </c:pt>
                <c:pt idx="33">
                  <c:v>72.54</c:v>
                </c:pt>
                <c:pt idx="34">
                  <c:v>73.78</c:v>
                </c:pt>
                <c:pt idx="35">
                  <c:v>74.18</c:v>
                </c:pt>
                <c:pt idx="36">
                  <c:v>73.88</c:v>
                </c:pt>
                <c:pt idx="37">
                  <c:v>73.9</c:v>
                </c:pt>
                <c:pt idx="38">
                  <c:v>74.22</c:v>
                </c:pt>
                <c:pt idx="39">
                  <c:v>74.06</c:v>
                </c:pt>
                <c:pt idx="40">
                  <c:v>73.9</c:v>
                </c:pt>
                <c:pt idx="41">
                  <c:v>74.2</c:v>
                </c:pt>
                <c:pt idx="42">
                  <c:v>74.26</c:v>
                </c:pt>
                <c:pt idx="43">
                  <c:v>74.32</c:v>
                </c:pt>
                <c:pt idx="44">
                  <c:v>74.18</c:v>
                </c:pt>
                <c:pt idx="45">
                  <c:v>74.32</c:v>
                </c:pt>
                <c:pt idx="46">
                  <c:v>74.32</c:v>
                </c:pt>
                <c:pt idx="47">
                  <c:v>74.32</c:v>
                </c:pt>
                <c:pt idx="48">
                  <c:v>74.28</c:v>
                </c:pt>
                <c:pt idx="49">
                  <c:v>74.52</c:v>
                </c:pt>
              </c:numCache>
            </c:numRef>
          </c:val>
          <c:smooth val="0"/>
        </c:ser>
        <c:ser>
          <c:idx val="3"/>
          <c:order val="3"/>
          <c:tx>
            <c:v>Deformable</c:v>
          </c:tx>
          <c:spPr>
            <a:ln xmlns:a="http://schemas.openxmlformats.org/drawingml/2006/main" w="28575">
              <a:solidFill>
                <a:srgbClr val="E76F51"/>
              </a:solidFill>
              <a:prstDash val="solid"/>
            </a:ln>
          </c:spPr>
          <c:marker>
            <c:symbol val="circle"/>
            <c:size val="2"/>
          </c:marker>
          <c:cat>
            <c:numRef>
              <c:f>'Chart Data'!$G$2:$G$51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cat>
          <c:val>
            <c:numRef>
              <c:f>'Chart Data'!$H$2:$H$51</c:f>
              <c:numCache>
                <c:formatCode>General</c:formatCode>
                <c:ptCount val="50"/>
                <c:pt idx="0">
                  <c:v>55.72</c:v>
                </c:pt>
                <c:pt idx="1">
                  <c:v>61.4</c:v>
                </c:pt>
                <c:pt idx="2">
                  <c:v>67.22</c:v>
                </c:pt>
                <c:pt idx="3">
                  <c:v>69.26</c:v>
                </c:pt>
                <c:pt idx="4">
                  <c:v>73.64</c:v>
                </c:pt>
                <c:pt idx="5">
                  <c:v>75</c:v>
                </c:pt>
                <c:pt idx="6">
                  <c:v>74.5</c:v>
                </c:pt>
                <c:pt idx="7">
                  <c:v>76.5</c:v>
                </c:pt>
                <c:pt idx="8">
                  <c:v>77.3</c:v>
                </c:pt>
                <c:pt idx="9">
                  <c:v>77.66</c:v>
                </c:pt>
                <c:pt idx="10">
                  <c:v>78.34</c:v>
                </c:pt>
                <c:pt idx="11">
                  <c:v>78.52</c:v>
                </c:pt>
                <c:pt idx="12">
                  <c:v>80.86</c:v>
                </c:pt>
                <c:pt idx="13">
                  <c:v>80.4</c:v>
                </c:pt>
                <c:pt idx="14">
                  <c:v>79.56</c:v>
                </c:pt>
                <c:pt idx="15">
                  <c:v>81.2</c:v>
                </c:pt>
                <c:pt idx="16">
                  <c:v>81.68</c:v>
                </c:pt>
                <c:pt idx="17">
                  <c:v>81.56</c:v>
                </c:pt>
                <c:pt idx="18">
                  <c:v>80.94</c:v>
                </c:pt>
                <c:pt idx="19">
                  <c:v>82.22</c:v>
                </c:pt>
                <c:pt idx="20">
                  <c:v>83.32</c:v>
                </c:pt>
                <c:pt idx="21">
                  <c:v>82.32</c:v>
                </c:pt>
                <c:pt idx="22">
                  <c:v>82.84</c:v>
                </c:pt>
                <c:pt idx="23">
                  <c:v>83.32</c:v>
                </c:pt>
                <c:pt idx="24">
                  <c:v>83.36</c:v>
                </c:pt>
                <c:pt idx="25">
                  <c:v>83.78</c:v>
                </c:pt>
                <c:pt idx="26">
                  <c:v>83.96</c:v>
                </c:pt>
                <c:pt idx="27">
                  <c:v>84.68</c:v>
                </c:pt>
                <c:pt idx="28">
                  <c:v>84.26</c:v>
                </c:pt>
                <c:pt idx="29">
                  <c:v>84.06</c:v>
                </c:pt>
                <c:pt idx="30">
                  <c:v>84.34</c:v>
                </c:pt>
                <c:pt idx="31">
                  <c:v>83.9</c:v>
                </c:pt>
                <c:pt idx="32">
                  <c:v>84.5</c:v>
                </c:pt>
                <c:pt idx="33">
                  <c:v>85.04</c:v>
                </c:pt>
                <c:pt idx="34">
                  <c:v>85.02</c:v>
                </c:pt>
                <c:pt idx="35">
                  <c:v>85.18</c:v>
                </c:pt>
                <c:pt idx="36">
                  <c:v>85.02</c:v>
                </c:pt>
                <c:pt idx="37">
                  <c:v>85.28</c:v>
                </c:pt>
                <c:pt idx="38">
                  <c:v>85.24</c:v>
                </c:pt>
                <c:pt idx="39">
                  <c:v>85.28</c:v>
                </c:pt>
                <c:pt idx="40">
                  <c:v>85.38</c:v>
                </c:pt>
                <c:pt idx="41">
                  <c:v>85.48</c:v>
                </c:pt>
                <c:pt idx="42">
                  <c:v>85.44</c:v>
                </c:pt>
                <c:pt idx="43">
                  <c:v>85.32</c:v>
                </c:pt>
                <c:pt idx="44">
                  <c:v>85.24</c:v>
                </c:pt>
                <c:pt idx="45">
                  <c:v>85.46</c:v>
                </c:pt>
                <c:pt idx="46">
                  <c:v>85.52</c:v>
                </c:pt>
                <c:pt idx="47">
                  <c:v>85.6</c:v>
                </c:pt>
                <c:pt idx="48">
                  <c:v>85.64</c:v>
                </c:pt>
                <c:pt idx="49">
                  <c:v>85.52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Эпоха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8"/>
          <c:min val="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1D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Validation accuracy, %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7F5F0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111827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7F5F0"/>
    </a:solidFill>
    <a:ln xmlns:a="http://schemas.openxmlformats.org/drawingml/2006/main" w="0">
      <a:solidFill>
        <a:srgbClr val="F7F5F0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3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F3127-3CF2-4530-868F-6BC51B64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162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D219C-84EA-4977-A755-86396F4B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7620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Специальные виды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свёрток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D6A8C5-35B2-412C-B7FF-09C93AD7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100" b="0">
                <a:solidFill>
                  <a:srgbClr val="D5DFE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D5DFE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5DFEF"/>
                </a:solidFill>
                <a:latin typeface="Arial"/>
                <a:ea typeface="Arial"/>
                <a:cs typeface="Arial"/>
              </a:rPr>
              <a:t>Dilated, Depthwise и Deformable в классификации CIFAR-10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BD9E4-A856-4CB2-BB43-CB81054D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405D"/>
          </a:solidFill>
          <a:ln xmlns:a="http://schemas.openxmlformats.org/drawingml/2006/main" w="9525">
            <a:solidFill>
              <a:srgbClr val="32405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ACD4B-56F2-4659-961D-0BDF7C62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500">
                <a:solidFill>
                  <a:srgbClr val="AAB8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>
                <a:solidFill>
                  <a:srgbClr val="AAB8D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AAB8D0"/>
                </a:solidFill>
                <a:latin typeface="Arial"/>
                <a:ea typeface="Arial"/>
                <a:cs typeface="Arial"/>
              </a:rPr>
              <a:t>Один датасет, одна архитектура, четыре оператора</a:t>
            </a:r>
          </a:p>
        </p:txBody>
      </p:sp>
    </p:spTree>
    <p:extLst>
      <p:ext uri="{BB962C8B-B14F-4D97-AF65-F5344CB8AC3E}">
        <p14:creationId xmlns:p14="http://schemas.microsoft.com/office/powerpoint/2010/main" val="1206091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613D0E-9C3D-4FA3-B2C9-F0A98B0F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Одна архитектура, четыре оператора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F46EDB-D6F2-428E-9E48-40F6BA6C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7099B-8091-4C48-926A-A5D49CB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7E659-A7DB-4690-83D6-E1A4E694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Что меняется при замене обычной свёртки 3×3?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C180D-81C0-4D9C-B53B-B5E30DCF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14600"/>
            <a:ext cx="1714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1A81A7-B74A-4AE2-8952-DDD94F5A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241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Обычная 3×3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44C5D-0AE2-4964-A6D6-C598002D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14600"/>
            <a:ext cx="1714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F8950-32C9-4F88-B66F-7E035A1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241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Dilated d=2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03366-68EC-4406-9A05-73C500C3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14600"/>
            <a:ext cx="1714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873C6-40F4-4767-BA3E-5F772707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241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Depthwise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27DF8-50A4-453F-BAF8-6A0CB32B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14600"/>
            <a:ext cx="17145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BE9E4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87C20-9BA3-412F-B9EB-D643E8CF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24175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Deformable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1450D-1E1F-45D0-996C-8FCACA01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96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Сравниваем качество, вычисления и карты признаков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F66FC2-FE75-4745-9645-56B10EC6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Меняется только пространственный оператор в трёх блоках сети</a:t>
            </a:r>
          </a:p>
        </p:txBody>
      </p:sp>
    </p:spTree>
    <p:extLst>
      <p:ext uri="{BB962C8B-B14F-4D97-AF65-F5344CB8AC3E}">
        <p14:creationId xmlns:p14="http://schemas.microsoft.com/office/powerpoint/2010/main" val="16542915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EC66E1-EDB5-4473-9EC8-86235E68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Архитектура модели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1AA9B-259D-4606-8236-EBA94C85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DDCAE-725F-4AEC-8331-6474FCA7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44A1E-D4D7-4DC7-ADB1-504EB14C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6383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B4463-D006-49F3-AC3A-EBE5A615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908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RGB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9FF40-2DF9-46E9-ADF8-3FC638DC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3×32×32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10D4F-DAA6-42EF-8B99-608A1EE7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14675"/>
            <a:ext cx="200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9525">
            <a:solidFill>
              <a:srgbClr val="59627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42A3E-AA7D-4F8C-A00D-376960EF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0575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solidFill>
              <a:srgbClr val="59627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95F1B7-1B34-4F72-8FAB-DAE106E9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571750"/>
            <a:ext cx="16383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A3788-30E6-44C3-B3DB-87CBFD19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27908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517390-A503-41D2-B4DE-C96AC890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2194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16×32×32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C6274E-FCD6-4D61-BF84-F76B862F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114675"/>
            <a:ext cx="200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9525">
            <a:solidFill>
              <a:srgbClr val="5962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EDFEA-B7D2-4C7A-BF38-9E8A0D70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575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solidFill>
              <a:srgbClr val="59627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C12E6-47CB-4C2A-BFC5-6993C155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71750"/>
            <a:ext cx="16383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F21BFD-DFC3-4872-BE00-D88D1C2B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908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Special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9589A-2354-493E-B010-75B2BFB8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194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32×16×16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9FA24-64D5-4577-8E7A-6FF65EE3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14675"/>
            <a:ext cx="200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9525">
            <a:solidFill>
              <a:srgbClr val="59627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B7B69E-2D6D-4593-BA0E-09764689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575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solidFill>
              <a:srgbClr val="59627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05778-98C3-4628-933C-177259BA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71750"/>
            <a:ext cx="16383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11E8E-C30E-4AAC-A2D5-87F9719B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908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Special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19D741-E2C9-4B31-BF6D-03D1AFA3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194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64×8×8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8B6DA6-52F2-4F10-8C42-B5E9F4A8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114675"/>
            <a:ext cx="200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9525">
            <a:solidFill>
              <a:srgbClr val="59627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8FA7B-4795-499F-AD53-107EE6D0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575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solidFill>
              <a:srgbClr val="59627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75A168-8164-406D-ACD9-A2D8368D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16383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2D017D-6C56-46D3-9840-82B861DF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908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Special 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EB709D-E849-4ADF-80B5-2479582C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194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128×4×4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BC612C-F07B-44FF-8778-A8344914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14675"/>
            <a:ext cx="200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9525">
            <a:solidFill>
              <a:srgbClr val="59627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39F5B7-AAB0-4612-9CBA-5D9C9FB3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0575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96273"/>
          </a:solidFill>
          <a:ln xmlns:a="http://schemas.openxmlformats.org/drawingml/2006/main" w="0">
            <a:solidFill>
              <a:srgbClr val="59627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676C57-0782-4FBA-846B-DB5AAA03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571750"/>
            <a:ext cx="16383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5951A2-8907-4868-8DC3-8691271B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7908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GAP + FC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930BF8-5C39-434D-B857-726C635C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2194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10 классов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82BC36-B021-4787-9956-BDEFBE7E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Stem, pooling и классификатор одинаковы во всех вариантах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86A2FF-AEE4-4C88-863D-184DEE2F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После каждого специального блока: BatchNorm, ReLU и MaxPool 2×2</a:t>
            </a:r>
          </a:p>
        </p:txBody>
      </p:sp>
    </p:spTree>
    <p:extLst>
      <p:ext uri="{BB962C8B-B14F-4D97-AF65-F5344CB8AC3E}">
        <p14:creationId xmlns:p14="http://schemas.microsoft.com/office/powerpoint/2010/main" val="19290996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EA9365C-9B49-406A-BEF3-0BFB6DD6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Обычная и dilated свёртки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48FCE-701B-4E77-99D8-DC1E8965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01BF0-A646-4FB1-BC74-E6F7047A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1E6A7-BCE8-428A-8391-DC568982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00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Обычная 3×3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6C236-5E3C-4627-A725-6A27E928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B8CF5-AC0A-4043-9DA3-71963538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9436E-38FD-4C05-A3A9-22A4EBD3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BE3B7-BD6A-444C-B99B-0BF011B0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F100B-6E2E-4C37-8152-2A6D00D6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B20FE-EF54-4869-B008-14860532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537FC-D2F7-4109-BF8A-2076D9C4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BAB7B-1793-4C81-9F66-ECF7B6C2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4BA860-3FA7-40A6-9A66-57E5026C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91401B-5AC8-4974-9FA0-07AF44DC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8A80B-B446-4232-9D27-04EAE809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D4F5D-A51C-4863-A6F9-5251AB8D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881FE-7249-42A9-9658-8320B95C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322E8C-28E9-4181-95CD-2C6EFE97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5352EA-A476-4E44-A347-3D1B99AE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345BCA-5F11-4281-9438-B44D5991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6E865-5B9A-4A3D-8A72-EE54057B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35CCA-8D4C-438F-8EE5-286B8ECD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34EF3-559E-4299-BF08-35401664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8C0FC3-68E2-4F7B-82B4-C7DB41EF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70EB8B-52D4-4E63-A2DC-A7860A8E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59323E-BA70-4298-9246-5E694E5D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DEEDE2-92C0-4ED6-89A1-27556370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35719F-F307-404A-8BB7-7599B200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B8E57B-EF2A-4269-8F6A-BCA4DF90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15A6BD-B316-4CFD-9AD6-B02D5C58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00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9 соседних точек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B894B6-37A8-4C71-9221-C56C5D91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600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Dilated 3×3, d=2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13AC6F-5E1C-4BBD-922E-158A33A8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3AAB13-D702-4547-94F8-58B03844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EA6073-37BF-45B0-B3DE-B69725A0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90509A-6054-44A1-B17C-B3B78C6E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EB7CB0-12F9-4A9B-BA56-7B2ED8B3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43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6A530D-1046-4A80-97BB-D8B0C7BE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69F40E-65E2-4B44-B7E0-F312E8FE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A3AFDB-7F19-48D2-9777-C340A1B2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FB0CD7-1B94-4A4D-BB97-63D860EA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52EC0E-6D80-4AA6-8ACD-26FF0256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FB547F-93D3-4B94-801A-902E9645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74E780-1CC5-43CF-AE08-8C9FC716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0162F0-56B2-49FE-BDBC-EE67034D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060AAF4-C9B5-458F-AA7E-6F0421ED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1273AD-404C-4CB7-9853-16E300F4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67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9BFB04-42BB-44AF-9976-593E27284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C663B6-5A51-4E53-BA27-7FB41216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E7376A2-F1B8-48D6-92CE-FB0F534A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D542EF-E197-464B-B0F1-6DC2DB875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F62B45-2E26-43A0-94E7-B0087BBA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29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9BA4C2-051D-4182-BD47-AD2E764F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C8F6EE-3FD1-4F89-B6B9-DA56B76F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DB7760-77A8-4537-897B-4206069E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086EAC-C324-488C-824D-D1A3BC99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7E4BC6-A153-4129-9588-A2975C01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24C4AB-59E9-4FAF-94BC-4199AD5D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005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те же 9 точек в области 5×5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2E88FF-1036-4DB2-A2CE-3CE55554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4D74F17-2D4E-4EF2-B239-96D385CB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Рецептивное поле больше, а число весов то же</a:t>
            </a:r>
          </a:p>
        </p:txBody>
      </p:sp>
    </p:spTree>
    <p:extLst>
      <p:ext uri="{BB962C8B-B14F-4D97-AF65-F5344CB8AC3E}">
        <p14:creationId xmlns:p14="http://schemas.microsoft.com/office/powerpoint/2010/main" val="14318037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8CD8F7-0F38-4F0D-9E47-7BDE5089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Depthwise и pointwise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CFC1E-EDAC-4461-B377-404713D3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77D85-F23C-4911-A22C-8CC483912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82E28-9178-448D-8730-48155A1B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1. Depthwise 3×3: отдельный фильтр для каждого канала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C66F8-15F1-4214-8FB0-A0423B81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52DF6-00DA-4C4F-AC64-84D962DB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03F11-EB42-46CB-B974-3C410DEE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6E3A2B-79E0-4505-BD44-898C1D7A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81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D267B-28EA-451F-959E-CE4384931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337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C1CDD-A8B5-407A-90AE-C51A5732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669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9525">
            <a:solidFill>
              <a:srgbClr val="F0EAF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C81B0-E2C5-4C07-B928-C7A55DD1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4384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74317-F236-423B-B006-E8A6BA68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6098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825F6E-45DC-4814-B8AB-CA70040E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781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FB9F4-8D4B-4411-AD9D-439A5CBA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337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898B14-D0B5-46FD-B3A0-855DDD9A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E7F7F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DD0C5-E9A3-4BA7-AD64-3B4EBFD8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384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9BBAD-1CAC-48CD-B528-37E00D85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F86612-AB23-4576-986E-FBE347E1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81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DC6D9-344D-4907-844B-8D74D78B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337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6B8B00-5C34-4945-AD76-A52FE78F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479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9525">
            <a:solidFill>
              <a:srgbClr val="0F9D8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A15D55-EA39-4306-BD7F-E25A6E65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9080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solidFill>
              <a:srgbClr val="0F9D8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216BCC-6567-4C35-9C28-B8C42B82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5500"/>
            <a:ext cx="6477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9525">
            <a:solidFill>
              <a:srgbClr val="0F9D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2F46B6-733C-4B2B-A4C1-C42E3C69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336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3×3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F5B78A-E573-4B76-B02A-42A92D3B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6477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9525">
            <a:solidFill>
              <a:srgbClr val="0F9D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C871B5-388E-4EED-ADBA-D381ED68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908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3×3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7983D8-9582-4302-A1B4-DED96C5C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6477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9525">
            <a:solidFill>
              <a:srgbClr val="0F9D8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B18CC3-E4BF-4BF1-B01D-F35595A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480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3×3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866CDF-70CE-43E6-B8BC-90F579E4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9525">
            <a:solidFill>
              <a:srgbClr val="0F9D8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978F98-F73C-4EA0-84D9-96C79028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9080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9D8A"/>
          </a:solidFill>
          <a:ln xmlns:a="http://schemas.openxmlformats.org/drawingml/2006/main" w="0">
            <a:solidFill>
              <a:srgbClr val="0F9D8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31A952-6D9E-4307-8E6C-A6CA080D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3363A6-3D4C-4691-9463-56F0C4F1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384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23236C-A97C-4BE9-9ABB-3149E64E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098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44D4EF-F0E2-41DE-93D8-1A7E9637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92D215-3461-43C6-9F7E-8D8E9FAC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337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529406-FF65-440B-88C0-93688E0F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9525">
            <a:solidFill>
              <a:srgbClr val="F0EAF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DCF6F6-5DA1-4CA6-911F-A82B2306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384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8772E0-E23D-4596-80E9-54828C2E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098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C05441-9A45-41F9-9920-CD43FFF0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EB7610-C557-4A5E-9F55-5F00EDEB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337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E898A3-9A14-4F1A-815D-EE6B89E38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669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E7F7F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31704D4-54AC-483A-B8D8-D9A8DCB7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384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42AF93-8A07-4DEA-967F-94EA4EF0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098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E81DE2-5757-4064-8931-A7AC6FD8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5B419FF-9E03-4D73-BD06-F60790A0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1337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786EBB-D805-4021-B525-39E18992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356684A-F564-4AAD-BEDD-DC0EEC05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2. Pointwise 1×1: смешивает каналы в каждой позиции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FB2C74-7394-47B9-899F-6C771F74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8958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EAF2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F0D17C-BF7B-4413-924C-82DDB455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67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6CBD54-424F-425D-BF6D-BC4B9432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387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C36C25-B698-4B17-9913-E30B3E5E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4102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07527D-B391-4F69-B1CF-1FA1935A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7626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DC3B4F-574A-458C-BA29-18465EB1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8958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EAFE"/>
          </a:solidFill>
          <a:ln xmlns:a="http://schemas.openxmlformats.org/drawingml/2006/main" w="9525">
            <a:solidFill>
              <a:srgbClr val="F0EAFE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EFFE2D-588D-4AA4-B39A-61B01BF6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067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C31C2D-70F2-405F-932C-51737D9A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2387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067F99-66ED-47C3-8E06-E7A3AD0D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4102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E09D2AC-7EA5-41DE-A921-703020F4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7626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0F97A3D-EF73-4C2D-8102-39D3E41B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9585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7F7F4"/>
          </a:solidFill>
          <a:ln xmlns:a="http://schemas.openxmlformats.org/drawingml/2006/main" w="9525">
            <a:solidFill>
              <a:srgbClr val="E7F7F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83D54B-B2DE-4F34-86AC-52F00A39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673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52998B-0A8D-4813-9915-2038703C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387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F10718-9CDD-4AB5-8ED5-779FD686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4102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053865-FB00-42FE-82EE-7396A3F1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6262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F63974-4A87-48A0-90A5-13F31D5C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768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7C500B0-90CC-4EAF-BBFC-370AD478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1970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8B35200-102D-4466-BB6A-4E38B324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76800"/>
            <a:ext cx="8382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2E02E67-0E8D-496B-B64B-B0742CDD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05400"/>
            <a:ext cx="838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1×1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6B2E53D-6155-40EC-9835-17F94568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76850"/>
            <a:ext cx="91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D47A649-93AC-456E-A9B2-55E5DB48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1970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7E84900-6288-49A1-B2FD-E3858547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876800"/>
            <a:ext cx="781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BE9E4"/>
          </a:solidFill>
          <a:ln xmlns:a="http://schemas.openxmlformats.org/drawingml/2006/main" w="9525">
            <a:solidFill>
              <a:srgbClr val="FBE9E4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2B85E98-59DF-425C-B5DE-D86DE353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482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59263D2-8C31-49AD-B4EE-394F6666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A4013D7-9780-4295-A20F-7D948334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3911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6988E2-804F-478F-B0A8-05267904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74357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Cout</a:t>
            </a:r>
          </a:p>
        </p:txBody>
      </p:sp>
    </p:spTree>
    <p:extLst>
      <p:ext uri="{BB962C8B-B14F-4D97-AF65-F5344CB8AC3E}">
        <p14:creationId xmlns:p14="http://schemas.microsoft.com/office/powerpoint/2010/main" val="18358698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C25B9CF-0AA7-4902-864F-2D811A42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Deformable convolution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4A299-1E15-4609-872F-57D92242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73FBD-1A47-4D9C-A5BD-E04CE1AD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34D662-7631-4352-B0AC-4C01E6CB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00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Обычная сетка 3×3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30F10-431E-4111-88E7-E0719C90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68910-9B74-4C76-B6BC-6B0745CA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14E5F-0928-4230-9326-A69D6462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A9813-3D5A-4F11-A0FE-40D7F881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EDC7B-0BD2-4177-9BB6-A6C06E72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A69F7A-B824-42C1-AF7F-097C14B2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F5072-961D-4B6F-8B48-595E9CBE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07A18-CF5C-4471-ADEC-7C0CAE9A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FD5E06-C0FD-4E5C-9CE0-0133EA17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8B50E-10F4-452F-8E2D-AFB6CB2A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9C1EE-97AA-483C-8CDB-98D75CA4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D1DC7-E80E-4947-889D-F7C96911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1A52A-9DD9-445F-BF7A-D66673B0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A0771-B001-4B1F-BC49-34B9C54C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247C42-C467-4561-8E74-F9545FEE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CC2936-280E-4E4A-BF23-986CF52A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ABD855-0AA0-4D34-BD60-DD9B04DE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21088-DCEE-4EEC-9595-075848A0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3E1DE3-01FB-492F-918A-195FF043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CAF9F3-8CC8-4EDC-AC6A-BB870604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4886EE-797C-430A-903B-2167817C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A18D9C-BA11-4C6F-A8A7-3CE11645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D68F56-69C7-4E5A-A1C2-B510192E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BBEA84-43C4-41BC-8DEA-F0315933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25DD1B-1A0C-484E-93A8-BBA97A0E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F4BF88-1DAA-44B3-9D34-6737A797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002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+ offsets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5CC63F-CC08-429C-8923-266B4E2E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76ADB4-BB9D-40A8-A7F8-4083B629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937FF2-7DCB-45AA-A56F-07FB7CE3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E7BAB8F-73E5-456E-AE4E-21770C0D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D434F5-CC55-4F82-A094-954E3170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3D8186-8797-4F00-AAD3-43D0CE0B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349077-37C2-4105-ABA3-B46D128D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663FD5-7484-4A1E-93BD-AC583C77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98CD50-9956-4DF0-8942-7C5E8D14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AEA424-9460-468D-B4CD-7A37461C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BA529A-C1B5-4899-9A6E-E7C9C2D4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08043D-5C09-4CA0-8DF9-15155058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DCFF50-2165-428B-A546-1781AF8C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B5EFCC-E599-4353-BADA-DAACABBB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C77D9E-E24F-46F8-BE9A-5BCE6454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181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53075D-A5A7-4F0D-85E2-51315A03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5B486D-9CBF-4418-9937-2C6982F9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9CD9E7-2874-4084-933C-3345A560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02BEB4-0BD6-40F6-AB81-BD9DF0BE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AA4D8F-69EC-4FF7-952A-59DC2EF1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81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32AFDC-9822-4740-A9ED-E8D16DF9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7A6474F-552F-4B7A-839A-BBEE2D12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340356A-28EE-424E-BAE5-2A40B07C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96D8FB-0F29-4047-8447-1EF9A5B8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648E6F1-21E7-443B-BF4F-25480E63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2D8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6992334-C3C4-4125-B8F3-D99E672C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4240" y="286131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7815D1-FB03-4F99-AB93-7E439D0C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4295" y="266128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C88D90-86CD-4B3E-B122-21BDB73F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360" y="282130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DCC4FC2-9CA8-4900-BF5A-CB30F318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4137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C42A8D8-B2B6-4A1E-A3F5-ABCACB21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4310" y="3181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BA15F3-5B18-4929-8CAC-64526328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6138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66629CD-60FD-450C-860B-3C6E8A05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4235" y="382143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05FEEAF-2CBC-4BDC-A594-9DFBC8DB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4305" y="366141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C9AEB09-750C-4639-BD4F-73EB3FCC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365" y="390144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306B64E-8488-4054-9CF6-798E5163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Offset predictor выдаёт 18 чисел для ядра 3×3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56CBFF6-3199-4F19-9A09-DB9058B7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9 пар координат (Δy, Δx) сдвигают точки выборки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4C06BDB-E1C1-44A5-B457-57C9C0E8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Дробные координаты: билинейная интерполяция</a:t>
            </a:r>
          </a:p>
        </p:txBody>
      </p:sp>
    </p:spTree>
    <p:extLst>
      <p:ext uri="{BB962C8B-B14F-4D97-AF65-F5344CB8AC3E}">
        <p14:creationId xmlns:p14="http://schemas.microsoft.com/office/powerpoint/2010/main" val="16277951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78679-93C2-45BE-B7A1-B418D4FB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Один вход, одинаковые веса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806F7-E026-4F4F-A381-8816CA6B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CC17FF-7399-4295-82E5-C256908B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84E71-54D4-4193-A3B4-68DA3EF05F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0518494c0d453d"/>
          <a:stretch xmlns:a="http://schemas.openxmlformats.org/drawingml/2006/main"/>
        </p:blipFill>
        <p:spPr>
          <a:xfrm xmlns:a="http://schemas.openxmlformats.org/drawingml/2006/main">
            <a:off x="723900" y="1800754"/>
            <a:ext cx="10706100" cy="260879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93BFA-33D2-4DF3-90E2-FF46AC98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Во всех пространственных ядрах: 9 коэффициентов по 1/9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7DD73-F1D3-4C1D-A1BF-2CE0A250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Для depthwise показан один входной канал, поэтому после pointwise 1×1 результат совпадает с обычной 3×3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9E06B-9C5A-4F91-9EB8-FEF9E797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Deformable: показана фиксированная деформированная сетка только для иллюстрации</a:t>
            </a:r>
          </a:p>
        </p:txBody>
      </p:sp>
    </p:spTree>
    <p:extLst>
      <p:ext uri="{BB962C8B-B14F-4D97-AF65-F5344CB8AC3E}">
        <p14:creationId xmlns:p14="http://schemas.microsoft.com/office/powerpoint/2010/main" val="12410515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434798-1F5F-4551-B009-4AC169AF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Протокол сравнения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85264B-F43F-4779-910D-34870CCA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FDD21-63C5-4FF2-B659-67661637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7C5EE-EBE1-47E9-963A-44323911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21907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9EE26-4FF9-4F43-AAF6-7F2901D7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45k / 5k / 10k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2E83C3-89A2-4593-B305-A607AB7D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train / val /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3418A-3ABD-42E7-B4A6-0F914978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907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C95FF-7C59-4838-8373-E2505BA6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B8E6C-988C-45B3-A061-29BF10D2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908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эпох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A1432-B832-4715-8796-FC97F83E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21907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F61B6-ABA3-4443-A934-E35D0F55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A38E98-CBA5-4201-93A0-5CD78C29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seed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51493E-BBDE-44E6-A8D9-4D88D61E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33600"/>
            <a:ext cx="219075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DC8F8C-B4DF-4F5E-BFEF-50608856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AdamW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D2DA7-A729-4B0C-A302-6F048D14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908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оптимизатор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040789-0240-4511-8B4F-89DE6D2C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Одинаковые аугментации, batch size, schedule и порядок данных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8721CA-D5E8-4629-9CE9-F52AC91F6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Checkpoint выбирается по validation accuracy. Test используется один раз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20D6A-118A-4A95-93CE-4726F5C6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Один seed на вариант: доверительный интервал не оценивался</a:t>
            </a:r>
          </a:p>
        </p:txBody>
      </p:sp>
    </p:spTree>
    <p:extLst>
      <p:ext uri="{BB962C8B-B14F-4D97-AF65-F5344CB8AC3E}">
        <p14:creationId xmlns:p14="http://schemas.microsoft.com/office/powerpoint/2010/main" val="1260821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BCC4D8-A04C-4CD6-BF48-8646C609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Параметры и MACs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13757-B28C-44F4-89EF-CB7622A3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5E2395-304E-4BB5-91F6-84249264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51BD96-8827-4808-B2E0-31E592C4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Параметры, тыс.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5525BB9-AFE9-4BF1-9192-021FCAC4675F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476250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e807f6fb18481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EF3D6-EA39-4398-B645-E37B4200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859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MACs, млн на изображение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AF1FD178-3315-498C-A956-986E33E557A7}"/>
              </a:ext>
            </a:extLst>
          </p:cNvPr>
          <p:cNvGraphicFramePr/>
          <p:nvPr/>
        </p:nvGraphicFramePr>
        <p:xfrm>
          <a:off xmlns:a="http://schemas.openxmlformats.org/drawingml/2006/main" x="6667500" y="1952625"/>
          <a:ext xmlns:a="http://schemas.openxmlformats.org/drawingml/2006/main" cx="4762500" cy="3162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59c88385964cc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58A2D-3246-4F65-8133-4FF3E131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Depthwise: меньше параметров и MACs. Deformable: дополнительный offset predictor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92AD49-7DC2-4BFC-9F10-172123C6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MACs для deformable не включают билинейную интерполяцию и адресацию памяти</a:t>
            </a:r>
          </a:p>
        </p:txBody>
      </p:sp>
    </p:spTree>
    <p:extLst>
      <p:ext uri="{BB962C8B-B14F-4D97-AF65-F5344CB8AC3E}">
        <p14:creationId xmlns:p14="http://schemas.microsoft.com/office/powerpoint/2010/main" val="2275582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CCAC79-17F6-4A46-B39C-AF137C11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Качество на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C0293-AC0C-4DF9-9B51-0C97FF42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3622C-D2A3-4D26-8E5B-C62A654B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F0FC99B-AFB6-482E-A80B-D081DFA5CE64}"/>
              </a:ext>
            </a:extLst>
          </p:cNvPr>
          <p:cNvGraphicFramePr/>
          <p:nvPr/>
        </p:nvGraphicFramePr>
        <p:xfrm>
          <a:off xmlns:a="http://schemas.openxmlformats.org/drawingml/2006/main" x="819150" y="158115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d805d54f6743f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B3F66-A12F-4ACD-B5FC-0D5418C5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764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85,06%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B42E5-DB9C-4FB4-96DA-DB8B6533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81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Deformable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8839FC-B938-489F-AB71-07F693D4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90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+1,37 п.п. к обычной 3×3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682FB-6EFE-416C-B599-57555D3D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Результат одного запуска, без проверки статистической значимости</a:t>
            </a:r>
          </a:p>
        </p:txBody>
      </p:sp>
    </p:spTree>
    <p:extLst>
      <p:ext uri="{BB962C8B-B14F-4D97-AF65-F5344CB8AC3E}">
        <p14:creationId xmlns:p14="http://schemas.microsoft.com/office/powerpoint/2010/main" val="4275876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200C5-5EAA-41BA-87BF-3006803C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Динамика обучения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F55BC-99E2-4C3A-9AFF-532672F2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8A18A-3707-4D7A-B3AE-83EF09E2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72DFC777-9788-4E37-938F-3AA41A76A8F5}"/>
              </a:ext>
            </a:extLst>
          </p:cNvPr>
          <p:cNvGraphicFramePr/>
          <p:nvPr/>
        </p:nvGraphicFramePr>
        <p:xfrm>
          <a:off xmlns:a="http://schemas.openxmlformats.org/drawingml/2006/main" x="762000" y="1524000"/>
          <a:ext xmlns:a="http://schemas.openxmlformats.org/drawingml/2006/main" cx="8096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f38afe2f5f4be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CD499-F171-4ECF-B757-63CF0172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Каждая линия: один запуск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E34C7-E9E0-4556-A06F-D07E07A8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67050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Доверительный интервал требует нескольких независимых seed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61395-9961-426A-B08F-A9D4783B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Кривые нужны, чтобы показать сходимость, а не оценить разброс</a:t>
            </a:r>
          </a:p>
        </p:txBody>
      </p:sp>
    </p:spTree>
    <p:extLst>
      <p:ext uri="{BB962C8B-B14F-4D97-AF65-F5344CB8AC3E}">
        <p14:creationId xmlns:p14="http://schemas.microsoft.com/office/powerpoint/2010/main" val="4430727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AA31F-5391-44F6-BEEA-6B443FB8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Карты признаков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E7D6B-057B-4610-8941-A57C81BA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B76B3-6A35-4D36-A0F6-97E4E36C3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AE8E2-0C9D-444D-ACB1-B0B06EF4BA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6f6f3cb61044a5"/>
          <a:stretch xmlns:a="http://schemas.openxmlformats.org/drawingml/2006/main"/>
        </p:blipFill>
        <p:spPr>
          <a:xfrm xmlns:a="http://schemas.openxmlformats.org/drawingml/2006/main">
            <a:off x="5723334" y="1428750"/>
            <a:ext cx="4250531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DB37B-D27F-4E08-ABE8-378A6505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Один вход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B961A-606B-4169-B132-14E45F92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Средняя абсолютная активация по каналам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BDA942-0675-4E5A-98F8-4AD03BAB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Stage 1 и stage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05021-79D4-4C3D-B33C-83DBEE4E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Сравниваем структуру, а не яркость между панелями</a:t>
            </a:r>
          </a:p>
        </p:txBody>
      </p:sp>
    </p:spTree>
    <p:extLst>
      <p:ext uri="{BB962C8B-B14F-4D97-AF65-F5344CB8AC3E}">
        <p14:creationId xmlns:p14="http://schemas.microsoft.com/office/powerpoint/2010/main" val="9360751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50FC7-C259-4CAF-B577-CB9E2F49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Offsets deformable convolution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D7129A-1BF3-447B-B0FA-79D1918A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E35C3-1668-4414-9E95-8E4D15BE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A0F71A-BB86-412E-9EFB-B8FE7CAACE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d1699ad5341dc"/>
          <a:stretch xmlns:a="http://schemas.openxmlformats.org/drawingml/2006/main"/>
        </p:blipFill>
        <p:spPr>
          <a:xfrm xmlns:a="http://schemas.openxmlformats.org/drawingml/2006/main">
            <a:off x="704850" y="1919764"/>
            <a:ext cx="7486650" cy="237077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79A73-1726-41EA-8015-28806263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66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Нулевые offsets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67820-A484-416F-8F84-54E8120D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24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обычная 3×3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BD491-03B6-4DB8-843D-C7ABC0AD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99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После обучения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5CA78-C909-4968-8F46-BF806659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смещения зависят от позиции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935C92-6FF2-4D9F-AED4-96BDF1BA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CBE67-07F8-4C9B-9CF6-FF704DA1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Цветовые шкалы различаются. Сравниваем порядок величин и структуру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08FEF-F7E6-4FFE-B158-A3F7AF4C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При нулевых offsets DCNv1 совпадает с обычной свёрткой</a:t>
            </a:r>
          </a:p>
        </p:txBody>
      </p:sp>
    </p:spTree>
    <p:extLst>
      <p:ext uri="{BB962C8B-B14F-4D97-AF65-F5344CB8AC3E}">
        <p14:creationId xmlns:p14="http://schemas.microsoft.com/office/powerpoint/2010/main" val="3708022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8E19AF-090C-437D-BACC-5CEC2D42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Когда применять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C84A9-036C-4A12-9701-7661F881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8BBAE-783C-4336-B0C4-4A9F6E4F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0AD7D-509C-4B4D-8FD2-DBBCF62E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57350"/>
            <a:ext cx="133350" cy="6858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24E80-BA49-4DE6-9C24-01DFA2FC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Обычная 3×3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0C47C0-979F-4A17-8BF6-8854D0FC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надёжный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79167-66EF-4366-B737-7BEEAD67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07008-81F4-4026-A3EB-85427A66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47950"/>
            <a:ext cx="133350" cy="6858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139D2-C3D0-4C70-BE04-92BC6C75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Dilated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C4C1E-B2F2-49F6-8205-6161C39B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051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нужен больший контекст при том же разрешении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A0D32E-A184-4AFC-9905-1D98F852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671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58A9E-D539-4B5B-9AC8-A2C3CF7A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33350" cy="6858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9525">
            <a:solidFill>
              <a:srgbClr val="0F9D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076F75-38EA-4F0D-855E-E7D3692C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Depthwise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BB327-FE64-480B-B248-E6682B09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957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важны память и число вычислений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9C847-2F32-475C-919D-E66ABA8A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544B7-2E1A-41B9-8B41-4F823325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33350" cy="68580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EB2ED-FAC0-4949-9382-BC4E5718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86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Deformable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8B074-99DB-4E7D-8125-1CA9CCD4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863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объекты меняют форму и положение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4E7D5-A38A-45ED-B2AE-F678A2EC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Оператор выбирают по ограничению задачи, а не по одной метрике</a:t>
            </a:r>
          </a:p>
        </p:txBody>
      </p:sp>
    </p:spTree>
    <p:extLst>
      <p:ext uri="{BB962C8B-B14F-4D97-AF65-F5344CB8AC3E}">
        <p14:creationId xmlns:p14="http://schemas.microsoft.com/office/powerpoint/2010/main" val="21090968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C43CAA-DF06-4356-9F6D-0B83CA4D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Выводы и ограничения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68E75-A001-4143-9FDA-F16CA939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2B93C-F0C6-4AA8-AFC9-69565133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F7D5E-F13F-4B51-B24C-614D60AA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33550"/>
            <a:ext cx="133350" cy="5905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9A748-AA41-45C8-BCE7-B8DC2D79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Dilated: качество как у обычной 3×3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E0780-9C2F-45AE-A435-45A18B7E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133350" cy="5905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0F9D8A"/>
          </a:solidFill>
          <a:ln xmlns:a="http://schemas.openxmlformats.org/drawingml/2006/main" w="9525">
            <a:solidFill>
              <a:srgbClr val="0F9D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5511D-F80E-40F7-943F-32E035B1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Depthwise: −84,4% MACs, но −8,98 п.п. точности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649F7-2B51-46F3-95E7-6DAA3DA5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33350" cy="5905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E76F51"/>
          </a:solidFill>
          <a:ln xmlns:a="http://schemas.openxmlformats.org/drawingml/2006/main" w="9525">
            <a:solidFill>
              <a:srgbClr val="E76F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3E955-13E5-4AC5-9D60-64814A2A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Deformable: лучший результат, но дороже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E52A9-2A70-418C-905E-AC50C18F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81150"/>
            <a:ext cx="190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91D17-ABAB-40FD-B828-FF06D4D1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145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Ограничения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61601-170D-43F1-A6CE-99444F85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24100"/>
            <a:ext cx="3429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Один seed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Нет доверительного интервала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Классификация 32×32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Прямая замена операторов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1B9D8-7187-427D-B151-E7B3C727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81600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Следующий шаг: несколько seed и semantic segmentation</a:t>
            </a:r>
          </a:p>
        </p:txBody>
      </p:sp>
    </p:spTree>
    <p:extLst>
      <p:ext uri="{BB962C8B-B14F-4D97-AF65-F5344CB8AC3E}">
        <p14:creationId xmlns:p14="http://schemas.microsoft.com/office/powerpoint/2010/main" val="20750021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41532-D47C-4498-9AFB-D285CEBA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Источники и проект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BFD3B-BAE1-4897-A574-303FD79B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7B181-F59C-4C07-8E1C-B667E421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1985A-6DAF-41A0-AB22-795279CB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2870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Yu, Koltun. Dilated Convolutions. 2015. arxiv.org/abs/1511.07122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Howard et al. MobileNets. 2017. arxiv.org/abs/1704.04861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Dai et al. Deformable Convolutional Networks. 2017. arxiv.org/abs/1703.06211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Krizhevsky. CIFAR-10. 2009. cs.toronto.edu/~kriz/cifar.html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PyTorch Conv2d. docs.pytorch.org/docs/stable/generated/torch.nn.Conv2d.html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9CADF-71A1-4783-833A-A96241AA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10363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1D8"/>
          </a:solidFill>
          <a:ln xmlns:a="http://schemas.openxmlformats.org/drawingml/2006/main" w="9525">
            <a:solidFill>
              <a:srgbClr val="E5E1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03645-59A7-43C0-9788-E2CB5C3C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Код, результаты и презентация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CA48D-EB9A-40C3-93FC-6B1E4365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962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6273"/>
                </a:solidFill>
                <a:latin typeface="Arial"/>
                <a:ea typeface="Arial"/>
                <a:cs typeface="Arial"/>
              </a:rPr>
              <a:t>github.com/grilzzz/conv_presentation</a:t>
            </a:r>
          </a:p>
        </p:txBody>
      </p:sp>
    </p:spTree>
    <p:extLst>
      <p:ext uri="{BB962C8B-B14F-4D97-AF65-F5344CB8AC3E}">
        <p14:creationId xmlns:p14="http://schemas.microsoft.com/office/powerpoint/2010/main" val="3828618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2026-10-09T09:25:25.6520000Z</dcterms:created>
  <dcterms:modified xsi:type="dcterms:W3CDTF">2026-10-09T09:25:25.6520000Z</dcterms:modified>
</coreProperties>
</file>