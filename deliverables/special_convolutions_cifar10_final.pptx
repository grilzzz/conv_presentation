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2a6da86c2146e8" /><Relationship Type="http://schemas.openxmlformats.org/officeDocument/2006/relationships/extended-properties" Target="/docProps/app.xml" Id="R6ad0537d92384c86" /><Relationship Type="http://schemas.openxmlformats.org/officeDocument/2006/relationships/officeDocument" Target="/ppt/presentation.xml" Id="Rb0e28a4260cc47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3ef2ef4d4440d3"/>
  </p:sldMasterIdLst>
  <p:notesMasterIdLst>
    <p:notesMasterId xmlns:r="http://schemas.openxmlformats.org/officeDocument/2006/relationships" r:id="Rfd6adbc279b84726"/>
  </p:notesMasterIdLst>
  <p:sldIdLst>
    <p:sldId xmlns:r="http://schemas.openxmlformats.org/officeDocument/2006/relationships" id="256" r:id="R7df4cd595d7148a0"/>
    <p:sldId xmlns:r="http://schemas.openxmlformats.org/officeDocument/2006/relationships" id="257" r:id="R9c9549d0f3df4ae1"/>
    <p:sldId xmlns:r="http://schemas.openxmlformats.org/officeDocument/2006/relationships" id="258" r:id="R2c5cc8a63d8b48da"/>
    <p:sldId xmlns:r="http://schemas.openxmlformats.org/officeDocument/2006/relationships" id="259" r:id="R9f1851a162914a27"/>
    <p:sldId xmlns:r="http://schemas.openxmlformats.org/officeDocument/2006/relationships" id="260" r:id="Re7c633f49ef14300"/>
    <p:sldId xmlns:r="http://schemas.openxmlformats.org/officeDocument/2006/relationships" id="261" r:id="R092c97f3cda04ba5"/>
    <p:sldId xmlns:r="http://schemas.openxmlformats.org/officeDocument/2006/relationships" id="262" r:id="Raf190fa78ba449fc"/>
    <p:sldId xmlns:r="http://schemas.openxmlformats.org/officeDocument/2006/relationships" id="263" r:id="R2c0c69d6331f45b5"/>
    <p:sldId xmlns:r="http://schemas.openxmlformats.org/officeDocument/2006/relationships" id="264" r:id="R7e2defbfedb041f1"/>
    <p:sldId xmlns:r="http://schemas.openxmlformats.org/officeDocument/2006/relationships" id="265" r:id="Rbf3de31b99c247c4"/>
    <p:sldId xmlns:r="http://schemas.openxmlformats.org/officeDocument/2006/relationships" id="266" r:id="Rc737745dec914386"/>
    <p:sldId xmlns:r="http://schemas.openxmlformats.org/officeDocument/2006/relationships" id="267" r:id="R487dc37dce7546ad"/>
    <p:sldId xmlns:r="http://schemas.openxmlformats.org/officeDocument/2006/relationships" id="268" r:id="R837f69fcfd734871"/>
    <p:sldId xmlns:r="http://schemas.openxmlformats.org/officeDocument/2006/relationships" id="269" r:id="Rac73f2d627a04442"/>
    <p:sldId xmlns:r="http://schemas.openxmlformats.org/officeDocument/2006/relationships" id="270" r:id="Ra36781e64356439e"/>
    <p:sldId xmlns:r="http://schemas.openxmlformats.org/officeDocument/2006/relationships" id="271" r:id="R1ace0fd220b94c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bc23ce2c724447" /><Relationship Type="http://schemas.openxmlformats.org/officeDocument/2006/relationships/slideMaster" Target="/ppt/slideMasters/slideMaster1.xml" Id="R8f3ef2ef4d4440d3" /><Relationship Type="http://schemas.openxmlformats.org/officeDocument/2006/relationships/notesMaster" Target="/ppt/notesMasters/notesMaster1.xml" Id="Rfd6adbc279b84726" /><Relationship Type="http://schemas.openxmlformats.org/officeDocument/2006/relationships/presProps" Target="/ppt/presProps.xml" Id="Rb3b1e017b4f84fe8" /><Relationship Type="http://schemas.openxmlformats.org/officeDocument/2006/relationships/tableStyles" Target="/ppt/tableStyles.xml" Id="Rcda9505f45174219" /><Relationship Type="http://schemas.openxmlformats.org/officeDocument/2006/relationships/slide" Target="/ppt/slides/slide1.xml" Id="R7df4cd595d7148a0" /><Relationship Type="http://schemas.openxmlformats.org/officeDocument/2006/relationships/slide" Target="/ppt/slides/slide2.xml" Id="R9c9549d0f3df4ae1" /><Relationship Type="http://schemas.openxmlformats.org/officeDocument/2006/relationships/slide" Target="/ppt/slides/slide3.xml" Id="R2c5cc8a63d8b48da" /><Relationship Type="http://schemas.openxmlformats.org/officeDocument/2006/relationships/slide" Target="/ppt/slides/slide4.xml" Id="R9f1851a162914a27" /><Relationship Type="http://schemas.openxmlformats.org/officeDocument/2006/relationships/slide" Target="/ppt/slides/slide5.xml" Id="Re7c633f49ef14300" /><Relationship Type="http://schemas.openxmlformats.org/officeDocument/2006/relationships/slide" Target="/ppt/slides/slide6.xml" Id="R092c97f3cda04ba5" /><Relationship Type="http://schemas.openxmlformats.org/officeDocument/2006/relationships/slide" Target="/ppt/slides/slide7.xml" Id="Raf190fa78ba449fc" /><Relationship Type="http://schemas.openxmlformats.org/officeDocument/2006/relationships/slide" Target="/ppt/slides/slide8.xml" Id="R2c0c69d6331f45b5" /><Relationship Type="http://schemas.openxmlformats.org/officeDocument/2006/relationships/slide" Target="/ppt/slides/slide9.xml" Id="R7e2defbfedb041f1" /><Relationship Type="http://schemas.openxmlformats.org/officeDocument/2006/relationships/slide" Target="/ppt/slides/slide10.xml" Id="Rbf3de31b99c247c4" /><Relationship Type="http://schemas.openxmlformats.org/officeDocument/2006/relationships/slide" Target="/ppt/slides/slide11.xml" Id="Rc737745dec914386" /><Relationship Type="http://schemas.openxmlformats.org/officeDocument/2006/relationships/slide" Target="/ppt/slides/slide12.xml" Id="R487dc37dce7546ad" /><Relationship Type="http://schemas.openxmlformats.org/officeDocument/2006/relationships/slide" Target="/ppt/slides/slide13.xml" Id="R837f69fcfd734871" /><Relationship Type="http://schemas.openxmlformats.org/officeDocument/2006/relationships/slide" Target="/ppt/slides/slide14.xml" Id="Rac73f2d627a04442" /><Relationship Type="http://schemas.openxmlformats.org/officeDocument/2006/relationships/slide" Target="/ppt/slides/slide15.xml" Id="Ra36781e64356439e" /><Relationship Type="http://schemas.openxmlformats.org/officeDocument/2006/relationships/slide" Target="/ppt/slides/slide16.xml" Id="R1ace0fd220b94c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364fcef56f40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28433d7c9f4d6a" /><Relationship Type="http://schemas.openxmlformats.org/officeDocument/2006/relationships/notesMaster" Target="/ppt/notesMasters/notesMaster1.xml" Id="R899f22dbd6ba43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bcf85bb35e470a" /><Relationship Type="http://schemas.openxmlformats.org/officeDocument/2006/relationships/notesMaster" Target="/ppt/notesMasters/notesMaster1.xml" Id="R87c23fec613a44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07bbde749f40d3" /><Relationship Type="http://schemas.openxmlformats.org/officeDocument/2006/relationships/notesMaster" Target="/ppt/notesMasters/notesMaster1.xml" Id="R04ad03b1de584e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60df0764d549d9" /><Relationship Type="http://schemas.openxmlformats.org/officeDocument/2006/relationships/notesMaster" Target="/ppt/notesMasters/notesMaster1.xml" Id="Re429bcfb71dc49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d78a9568ff4194" /><Relationship Type="http://schemas.openxmlformats.org/officeDocument/2006/relationships/notesMaster" Target="/ppt/notesMasters/notesMaster1.xml" Id="Rff9e4b2896bb45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11fef8810e4085" /><Relationship Type="http://schemas.openxmlformats.org/officeDocument/2006/relationships/notesMaster" Target="/ppt/notesMasters/notesMaster1.xml" Id="R8b2e87586ec844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afbe0c50e944e3" /><Relationship Type="http://schemas.openxmlformats.org/officeDocument/2006/relationships/notesMaster" Target="/ppt/notesMasters/notesMaster1.xml" Id="R8b34e0f22f4745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bd42e76eef42f8" /><Relationship Type="http://schemas.openxmlformats.org/officeDocument/2006/relationships/notesMaster" Target="/ppt/notesMasters/notesMaster1.xml" Id="R0a97a60ec0d94e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b4d2b95c0d43b7" /><Relationship Type="http://schemas.openxmlformats.org/officeDocument/2006/relationships/notesMaster" Target="/ppt/notesMasters/notesMaster1.xml" Id="R0e032c6a02a34f1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4d96a769604bc6" /><Relationship Type="http://schemas.openxmlformats.org/officeDocument/2006/relationships/notesMaster" Target="/ppt/notesMasters/notesMaster1.xml" Id="R2997c4639a6247b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a87891e2bb4f86" /><Relationship Type="http://schemas.openxmlformats.org/officeDocument/2006/relationships/notesMaster" Target="/ppt/notesMasters/notesMaster1.xml" Id="Ra39ae47710714ea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d2510ec9c9546aa" /><Relationship Type="http://schemas.openxmlformats.org/officeDocument/2006/relationships/notesMaster" Target="/ppt/notesMasters/notesMaster1.xml" Id="R916db55944a5496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d4cf0f4408b49c5" /><Relationship Type="http://schemas.openxmlformats.org/officeDocument/2006/relationships/notesMaster" Target="/ppt/notesMasters/notesMaster1.xml" Id="R8c5c3095f64b4f6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25a41ef77234047" /><Relationship Type="http://schemas.openxmlformats.org/officeDocument/2006/relationships/notesMaster" Target="/ppt/notesMasters/notesMaster1.xml" Id="Rb50dfde100eb470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96dc1a23864aac" /><Relationship Type="http://schemas.openxmlformats.org/officeDocument/2006/relationships/notesMaster" Target="/ppt/notesMasters/notesMaster1.xml" Id="Rf6ccaa6231af498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bca61be20b44055" /><Relationship Type="http://schemas.openxmlformats.org/officeDocument/2006/relationships/notesMaster" Target="/ppt/notesMasters/notesMaster1.xml" Id="R1cb35faee9ce4d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CIFAR-10: https://www.cs.toronto.edu/~kriz/cifar.html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Yu &amp; Koltun, 2015: https://arxiv.org/abs/1511.07122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MobileNets: https://arxiv.org/abs/1704.04861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Dai et al., 2017: https://arxiv.org/abs/1703.06211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MNIST: http://yann.lecun.com/exdb/mnist/; скрипт: scripts/make_operator_demo.py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Результаты: outputs_full/metrics.csv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Результаты: outputs_full/metrics.csv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Результаты по эпохам: outputs_full/training_history.csv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Результат: outputs_full/feature_maps.png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Dai et al., 2017: https://arxiv.org/abs/1703.06211; результат: outputs_full/deform_offsets.png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Результаты: outputs_full/metrics.csv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Полные ссылки: research/SOURCES.md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c9aa45d22c4b2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82b3d24a314a5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f84d65c72b4a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9519bf5f9342d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a9de1707b94b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fad13f531e4b4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AEACC97-3F4F-48EC-A419-FCA987A04B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76BBEB-03E7-43EA-8D3F-766BFDD6AD6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5DD3567-79F0-4F61-9434-0DB5A37B10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6BE7A4-80C1-4778-81E8-98B30FAE3D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90A909E-81A1-4D80-9DE4-E39900EB48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E27DE8F-57D5-410F-95A8-656333E840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B155760-AC7A-400B-B08E-F66D334485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4D47A20-1EF4-4CE1-813F-E4D909E7242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E7ACDD-B7F5-43E9-8280-D0782C5836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78FFB3-D492-46CB-9D05-BFA82FC807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fbe521823b4ab6" /><Relationship Type="http://schemas.openxmlformats.org/officeDocument/2006/relationships/slideLayout" Target="/ppt/slideLayouts/slideLayout1.xml" Id="R67ce683ae13b4a6d" /><Relationship Type="http://schemas.openxmlformats.org/officeDocument/2006/relationships/slideLayout" Target="/ppt/slideLayouts/slideLayout2.xml" Id="Rc594b26d380543df" /><Relationship Type="http://schemas.openxmlformats.org/officeDocument/2006/relationships/slideLayout" Target="/ppt/slideLayouts/slideLayout3.xml" Id="R22c1b3aaf6224f26" /><Relationship Type="http://schemas.openxmlformats.org/officeDocument/2006/relationships/slideLayout" Target="/ppt/slideLayouts/slideLayout4.xml" Id="R98f00d35957c4b36" /><Relationship Type="http://schemas.openxmlformats.org/officeDocument/2006/relationships/slideLayout" Target="/ppt/slideLayouts/slideLayout5.xml" Id="R601d3088dc3f4fa2" /><Relationship Type="http://schemas.openxmlformats.org/officeDocument/2006/relationships/slideLayout" Target="/ppt/slideLayouts/slideLayout6.xml" Id="R3d27b5b254df4b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ce683ae13b4a6d"/>
    <p:sldLayoutId xmlns:r="http://schemas.openxmlformats.org/officeDocument/2006/relationships" id="2147483650" r:id="Rc594b26d380543df"/>
    <p:sldLayoutId xmlns:r="http://schemas.openxmlformats.org/officeDocument/2006/relationships" id="2147483651" r:id="R22c1b3aaf6224f26"/>
    <p:sldLayoutId xmlns:r="http://schemas.openxmlformats.org/officeDocument/2006/relationships" id="2147483652" r:id="R98f00d35957c4b36"/>
    <p:sldLayoutId xmlns:r="http://schemas.openxmlformats.org/officeDocument/2006/relationships" id="2147483653" r:id="R601d3088dc3f4fa2"/>
    <p:sldLayoutId xmlns:r="http://schemas.openxmlformats.org/officeDocument/2006/relationships" id="2147483654" r:id="R3d27b5b254df4b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f9b5321c3249a1" /><Relationship Type="http://schemas.openxmlformats.org/officeDocument/2006/relationships/notesSlide" Target="/ppt/notesSlides/notesSlide1.xml" Id="R6130a6e0210f49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3dfe892f014b3b" /><Relationship Type="http://schemas.openxmlformats.org/officeDocument/2006/relationships/notesSlide" Target="/ppt/notesSlides/notesSlide2.xml" Id="Rbd22050709ae48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69a4f8811f477e" /><Relationship Type="http://schemas.openxmlformats.org/officeDocument/2006/relationships/notesSlide" Target="/ppt/notesSlides/notesSlide3.xml" Id="R88b5b098fd2c48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6cb844fb764625" /><Relationship Type="http://schemas.openxmlformats.org/officeDocument/2006/relationships/notesSlide" Target="/ppt/notesSlides/notesSlide4.xml" Id="R1a6bbc19b43646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585a50797948e2" /><Relationship Type="http://schemas.openxmlformats.org/officeDocument/2006/relationships/notesSlide" Target="/ppt/notesSlides/notesSlide5.xml" Id="Rbb2240e670bd48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de85ff43fd42db" /><Relationship Type="http://schemas.openxmlformats.org/officeDocument/2006/relationships/notesSlide" Target="/ppt/notesSlides/notesSlide6.xml" Id="R4a67abe6191c4c0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c6a42a40f9490e" /><Relationship Type="http://schemas.openxmlformats.org/officeDocument/2006/relationships/image" Target="/ppt/media/image.png" Id="Reb38cfc1ff9d4c57" /><Relationship Type="http://schemas.openxmlformats.org/officeDocument/2006/relationships/notesSlide" Target="/ppt/notesSlides/notesSlide7.xml" Id="R5ef3eacb857848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1feb84280342cc" /><Relationship Type="http://schemas.openxmlformats.org/officeDocument/2006/relationships/notesSlide" Target="/ppt/notesSlides/notesSlide8.xml" Id="Re790b3b894894d1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c1212a8ddb4ff8" /><Relationship Type="http://schemas.openxmlformats.org/officeDocument/2006/relationships/chart" Target="/ppt/slides/charts/chart1.xml" Id="R17381299df574e3b" /><Relationship Type="http://schemas.openxmlformats.org/officeDocument/2006/relationships/chart" Target="/ppt/slides/charts/chart2.xml" Id="R3821f66639104e68" /><Relationship Type="http://schemas.openxmlformats.org/officeDocument/2006/relationships/notesSlide" Target="/ppt/notesSlides/notesSlide9.xml" Id="R2cbaf5be1ab542c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a9063c48864291" /><Relationship Type="http://schemas.openxmlformats.org/officeDocument/2006/relationships/chart" Target="/ppt/slides/charts/chart3.xml" Id="Re372421c21cd467a" /><Relationship Type="http://schemas.openxmlformats.org/officeDocument/2006/relationships/notesSlide" Target="/ppt/notesSlides/notesSlide10.xml" Id="R3df1fabe78ad4d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ca72fff1524385" /><Relationship Type="http://schemas.openxmlformats.org/officeDocument/2006/relationships/chart" Target="/ppt/slides/charts/chart4.xml" Id="R9d1e97846c094507" /><Relationship Type="http://schemas.openxmlformats.org/officeDocument/2006/relationships/notesSlide" Target="/ppt/notesSlides/notesSlide11.xml" Id="R51d7c7a3375c48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709894f0034bd6" /><Relationship Type="http://schemas.openxmlformats.org/officeDocument/2006/relationships/image" Target="/ppt/media/image2.png" Id="Ra2e215359c914579" /><Relationship Type="http://schemas.openxmlformats.org/officeDocument/2006/relationships/notesSlide" Target="/ppt/notesSlides/notesSlide12.xml" Id="R5e2deeb32c3e4aa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d06ea5b9444310" /><Relationship Type="http://schemas.openxmlformats.org/officeDocument/2006/relationships/image" Target="/ppt/media/image3.png" Id="R02d1c1f5d57c45c1" /><Relationship Type="http://schemas.openxmlformats.org/officeDocument/2006/relationships/notesSlide" Target="/ppt/notesSlides/notesSlide13.xml" Id="Rf2eed5a47c624db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a2cbc336e643ee" /><Relationship Type="http://schemas.openxmlformats.org/officeDocument/2006/relationships/notesSlide" Target="/ppt/notesSlides/notesSlide14.xml" Id="R63f267ca04ba48f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2e1a8fc49f476d" /><Relationship Type="http://schemas.openxmlformats.org/officeDocument/2006/relationships/notesSlide" Target="/ppt/notesSlides/notesSlide15.xml" Id="R5c13598275434f6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167afe9c844bcc" /><Relationship Type="http://schemas.openxmlformats.org/officeDocument/2006/relationships/notesSlide" Target="/ppt/notesSlides/notesSlide16.xml" Id="Rdf12f5a537b9488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тыс.</c:v>
          </c:tx>
          <c:dPt>
            <c:idx val="0"/>
            <c:invertIfNegative val="0"/>
            <c:spPr>
              <a:solidFill xmlns:a="http://schemas.openxmlformats.org/drawingml/2006/main">
                <a:srgbClr val="2563EB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C3AE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F9D8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E76F51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Обычная 3×3</c:v>
                </c:pt>
                <c:pt idx="1">
                  <c:v>Dilated d=2</c:v>
                </c:pt>
                <c:pt idx="2">
                  <c:v>Depthwise</c:v>
                </c:pt>
                <c:pt idx="3">
                  <c:v>Deformable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98.97</c:v>
                </c:pt>
                <c:pt idx="1">
                  <c:v>98.97</c:v>
                </c:pt>
                <c:pt idx="2">
                  <c:v>13.96</c:v>
                </c:pt>
                <c:pt idx="3">
                  <c:v>117.39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0">
                  <a:solidFill>
                    <a:srgbClr val="11182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1D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F0"/>
        </a:solidFill>
      </c:spPr>
    </c:plotArea>
    <c:plotVisOnly val="1"/>
  </c:chart>
  <c:spPr>
    <a:solidFill xmlns:a="http://schemas.openxmlformats.org/drawingml/2006/main">
      <a:srgbClr val="F7F5F0"/>
    </a:solidFill>
    <a:ln xmlns:a="http://schemas.openxmlformats.org/drawingml/2006/main" w="0">
      <a:solidFill>
        <a:srgbClr val="F7F5F0"/>
      </a:solidFill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млн</c:v>
          </c:tx>
          <c:dPt>
            <c:idx val="0"/>
            <c:invertIfNegative val="0"/>
            <c:spPr>
              <a:solidFill xmlns:a="http://schemas.openxmlformats.org/drawingml/2006/main">
                <a:srgbClr val="2563EB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C3AE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F9D8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E76F51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Обычная 3×3</c:v>
                </c:pt>
                <c:pt idx="1">
                  <c:v>Dilated d=2</c:v>
                </c:pt>
                <c:pt idx="2">
                  <c:v>Depthwise</c:v>
                </c:pt>
                <c:pt idx="3">
                  <c:v>Deformable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14.6</c:v>
                </c:pt>
                <c:pt idx="1">
                  <c:v>14.6</c:v>
                </c:pt>
                <c:pt idx="2">
                  <c:v>2.27</c:v>
                </c:pt>
                <c:pt idx="3">
                  <c:v>19.24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0">
                  <a:solidFill>
                    <a:srgbClr val="11182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1D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F0"/>
        </a:solidFill>
      </c:spPr>
    </c:plotArea>
    <c:plotVisOnly val="1"/>
  </c:chart>
  <c:spPr>
    <a:solidFill xmlns:a="http://schemas.openxmlformats.org/drawingml/2006/main">
      <a:srgbClr val="F7F5F0"/>
    </a:solidFill>
    <a:ln xmlns:a="http://schemas.openxmlformats.org/drawingml/2006/main" w="0">
      <a:solidFill>
        <a:srgbClr val="F7F5F0"/>
      </a:solidFill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Test accuracy, %</c:v>
          </c:tx>
          <c:dPt>
            <c:idx val="0"/>
            <c:invertIfNegative val="0"/>
            <c:spPr>
              <a:solidFill xmlns:a="http://schemas.openxmlformats.org/drawingml/2006/main">
                <a:srgbClr val="2563EB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C3AE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F9D8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E76F51"/>
              </a:solidFill>
            </c:spPr>
          </c:dPt>
          <c:cat>
            <c:strRef>
              <c:f>'Chart Data'!$A$2:$A$5</c:f>
              <c:strCache>
                <c:ptCount val="4"/>
                <c:pt idx="0">
                  <c:v>Обычная 3×3</c:v>
                </c:pt>
                <c:pt idx="1">
                  <c:v>Dilated d=2</c:v>
                </c:pt>
                <c:pt idx="2">
                  <c:v>Depthwise</c:v>
                </c:pt>
                <c:pt idx="3">
                  <c:v>Deformable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83.69</c:v>
                </c:pt>
                <c:pt idx="1">
                  <c:v>83.57</c:v>
                </c:pt>
                <c:pt idx="2">
                  <c:v>74.71</c:v>
                </c:pt>
                <c:pt idx="3">
                  <c:v>85.06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0">
                  <a:solidFill>
                    <a:srgbClr val="11182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7"/>
          <c:min val="7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1D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Accuracy, %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7F5F0"/>
        </a:solidFill>
      </c:spPr>
    </c:plotArea>
    <c:plotVisOnly val="1"/>
  </c:chart>
  <c:spPr>
    <a:solidFill xmlns:a="http://schemas.openxmlformats.org/drawingml/2006/main">
      <a:srgbClr val="F7F5F0"/>
    </a:solidFill>
    <a:ln xmlns:a="http://schemas.openxmlformats.org/drawingml/2006/main" w="0">
      <a:solidFill>
        <a:srgbClr val="F7F5F0"/>
      </a:solidFill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Обычная 3×3</c:v>
          </c:tx>
          <c:spPr>
            <a:ln xmlns:a="http://schemas.openxmlformats.org/drawingml/2006/main" w="28575">
              <a:solidFill>
                <a:srgbClr val="2563EB"/>
              </a:solidFill>
              <a:prstDash val="solid"/>
            </a:ln>
          </c:spPr>
          <c:marker>
            <c:symbol val="circle"/>
            <c:size val="2"/>
          </c:marker>
          <c:cat>
            <c:numRef>
              <c:f>'Chart Data'!$A$2:$A$51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cat>
          <c:val>
            <c:numRef>
              <c:f>'Chart Data'!$B$2:$B$51</c:f>
              <c:numCache>
                <c:formatCode>General</c:formatCode>
                <c:ptCount val="50"/>
                <c:pt idx="0">
                  <c:v>50.12</c:v>
                </c:pt>
                <c:pt idx="1">
                  <c:v>61</c:v>
                </c:pt>
                <c:pt idx="2">
                  <c:v>60.7</c:v>
                </c:pt>
                <c:pt idx="3">
                  <c:v>67.22</c:v>
                </c:pt>
                <c:pt idx="4">
                  <c:v>68.66</c:v>
                </c:pt>
                <c:pt idx="5">
                  <c:v>68.58</c:v>
                </c:pt>
                <c:pt idx="6">
                  <c:v>68.68</c:v>
                </c:pt>
                <c:pt idx="7">
                  <c:v>68.52</c:v>
                </c:pt>
                <c:pt idx="8">
                  <c:v>68.5</c:v>
                </c:pt>
                <c:pt idx="9">
                  <c:v>74.72</c:v>
                </c:pt>
                <c:pt idx="10">
                  <c:v>72.7</c:v>
                </c:pt>
                <c:pt idx="11">
                  <c:v>74.86</c:v>
                </c:pt>
                <c:pt idx="12">
                  <c:v>73.28</c:v>
                </c:pt>
                <c:pt idx="13">
                  <c:v>74.82</c:v>
                </c:pt>
                <c:pt idx="14">
                  <c:v>77.84</c:v>
                </c:pt>
                <c:pt idx="15">
                  <c:v>75</c:v>
                </c:pt>
                <c:pt idx="16">
                  <c:v>78.14</c:v>
                </c:pt>
                <c:pt idx="17">
                  <c:v>79.14</c:v>
                </c:pt>
                <c:pt idx="18">
                  <c:v>79.7</c:v>
                </c:pt>
                <c:pt idx="19">
                  <c:v>78.94</c:v>
                </c:pt>
                <c:pt idx="20">
                  <c:v>78.54</c:v>
                </c:pt>
                <c:pt idx="21">
                  <c:v>79.3</c:v>
                </c:pt>
                <c:pt idx="22">
                  <c:v>79.5</c:v>
                </c:pt>
                <c:pt idx="23">
                  <c:v>80.78</c:v>
                </c:pt>
                <c:pt idx="24">
                  <c:v>80.4</c:v>
                </c:pt>
                <c:pt idx="25">
                  <c:v>81.1</c:v>
                </c:pt>
                <c:pt idx="26">
                  <c:v>79.46</c:v>
                </c:pt>
                <c:pt idx="27">
                  <c:v>80.56</c:v>
                </c:pt>
                <c:pt idx="28">
                  <c:v>81.82</c:v>
                </c:pt>
                <c:pt idx="29">
                  <c:v>82.04</c:v>
                </c:pt>
                <c:pt idx="30">
                  <c:v>81.84</c:v>
                </c:pt>
                <c:pt idx="31">
                  <c:v>82.64</c:v>
                </c:pt>
                <c:pt idx="32">
                  <c:v>82.48</c:v>
                </c:pt>
                <c:pt idx="33">
                  <c:v>82.62</c:v>
                </c:pt>
                <c:pt idx="34">
                  <c:v>82.76</c:v>
                </c:pt>
                <c:pt idx="35">
                  <c:v>82.88</c:v>
                </c:pt>
                <c:pt idx="36">
                  <c:v>82.9</c:v>
                </c:pt>
                <c:pt idx="37">
                  <c:v>83</c:v>
                </c:pt>
                <c:pt idx="38">
                  <c:v>82.94</c:v>
                </c:pt>
                <c:pt idx="39">
                  <c:v>83.34</c:v>
                </c:pt>
                <c:pt idx="40">
                  <c:v>83.08</c:v>
                </c:pt>
                <c:pt idx="41">
                  <c:v>83.38</c:v>
                </c:pt>
                <c:pt idx="42">
                  <c:v>83.5</c:v>
                </c:pt>
                <c:pt idx="43">
                  <c:v>83.52</c:v>
                </c:pt>
                <c:pt idx="44">
                  <c:v>83.58</c:v>
                </c:pt>
                <c:pt idx="45">
                  <c:v>83.56</c:v>
                </c:pt>
                <c:pt idx="46">
                  <c:v>83.46</c:v>
                </c:pt>
                <c:pt idx="47">
                  <c:v>83.56</c:v>
                </c:pt>
                <c:pt idx="48">
                  <c:v>83.56</c:v>
                </c:pt>
                <c:pt idx="49">
                  <c:v>83.62</c:v>
                </c:pt>
              </c:numCache>
            </c:numRef>
          </c:val>
          <c:smooth val="0"/>
        </c:ser>
        <c:ser>
          <c:idx val="1"/>
          <c:order val="1"/>
          <c:tx>
            <c:v>Dilated d=2</c:v>
          </c:tx>
          <c:spPr>
            <a:ln xmlns:a="http://schemas.openxmlformats.org/drawingml/2006/main" w="28575">
              <a:solidFill>
                <a:srgbClr val="7C3AED"/>
              </a:solidFill>
              <a:prstDash val="solid"/>
            </a:ln>
          </c:spPr>
          <c:marker>
            <c:symbol val="circle"/>
            <c:size val="2"/>
          </c:marker>
          <c:cat>
            <c:numRef>
              <c:f>'Chart Data'!$C$2:$C$51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cat>
          <c:val>
            <c:numRef>
              <c:f>'Chart Data'!$D$2:$D$51</c:f>
              <c:numCache>
                <c:formatCode>General</c:formatCode>
                <c:ptCount val="50"/>
                <c:pt idx="0">
                  <c:v>50.04</c:v>
                </c:pt>
                <c:pt idx="1">
                  <c:v>58.34</c:v>
                </c:pt>
                <c:pt idx="2">
                  <c:v>63.28</c:v>
                </c:pt>
                <c:pt idx="3">
                  <c:v>65.14</c:v>
                </c:pt>
                <c:pt idx="4">
                  <c:v>70.72</c:v>
                </c:pt>
                <c:pt idx="5">
                  <c:v>70.48</c:v>
                </c:pt>
                <c:pt idx="6">
                  <c:v>71.84</c:v>
                </c:pt>
                <c:pt idx="7">
                  <c:v>73.32</c:v>
                </c:pt>
                <c:pt idx="8">
                  <c:v>73.46</c:v>
                </c:pt>
                <c:pt idx="9">
                  <c:v>75.96</c:v>
                </c:pt>
                <c:pt idx="10">
                  <c:v>75.18</c:v>
                </c:pt>
                <c:pt idx="11">
                  <c:v>77.64</c:v>
                </c:pt>
                <c:pt idx="12">
                  <c:v>77.88</c:v>
                </c:pt>
                <c:pt idx="13">
                  <c:v>78.08</c:v>
                </c:pt>
                <c:pt idx="14">
                  <c:v>78.36</c:v>
                </c:pt>
                <c:pt idx="15">
                  <c:v>78.82</c:v>
                </c:pt>
                <c:pt idx="16">
                  <c:v>80.34</c:v>
                </c:pt>
                <c:pt idx="17">
                  <c:v>80.22</c:v>
                </c:pt>
                <c:pt idx="18">
                  <c:v>79.22</c:v>
                </c:pt>
                <c:pt idx="19">
                  <c:v>78.68</c:v>
                </c:pt>
                <c:pt idx="20">
                  <c:v>80.66</c:v>
                </c:pt>
                <c:pt idx="21">
                  <c:v>79.92</c:v>
                </c:pt>
                <c:pt idx="22">
                  <c:v>80.2</c:v>
                </c:pt>
                <c:pt idx="23">
                  <c:v>80.84</c:v>
                </c:pt>
                <c:pt idx="24">
                  <c:v>81.44</c:v>
                </c:pt>
                <c:pt idx="25">
                  <c:v>81.58</c:v>
                </c:pt>
                <c:pt idx="26">
                  <c:v>81.74</c:v>
                </c:pt>
                <c:pt idx="27">
                  <c:v>82.2</c:v>
                </c:pt>
                <c:pt idx="28">
                  <c:v>82.32</c:v>
                </c:pt>
                <c:pt idx="29">
                  <c:v>82.42</c:v>
                </c:pt>
                <c:pt idx="30">
                  <c:v>82.42</c:v>
                </c:pt>
                <c:pt idx="31">
                  <c:v>82.58</c:v>
                </c:pt>
                <c:pt idx="32">
                  <c:v>82.8</c:v>
                </c:pt>
                <c:pt idx="33">
                  <c:v>82.92</c:v>
                </c:pt>
                <c:pt idx="34">
                  <c:v>83.12</c:v>
                </c:pt>
                <c:pt idx="35">
                  <c:v>82.5</c:v>
                </c:pt>
                <c:pt idx="36">
                  <c:v>82.82</c:v>
                </c:pt>
                <c:pt idx="37">
                  <c:v>82.92</c:v>
                </c:pt>
                <c:pt idx="38">
                  <c:v>83.56</c:v>
                </c:pt>
                <c:pt idx="39">
                  <c:v>83.1</c:v>
                </c:pt>
                <c:pt idx="40">
                  <c:v>83.54</c:v>
                </c:pt>
                <c:pt idx="41">
                  <c:v>83.58</c:v>
                </c:pt>
                <c:pt idx="42">
                  <c:v>83.52</c:v>
                </c:pt>
                <c:pt idx="43">
                  <c:v>83.58</c:v>
                </c:pt>
                <c:pt idx="44">
                  <c:v>83.7</c:v>
                </c:pt>
                <c:pt idx="45">
                  <c:v>83.9</c:v>
                </c:pt>
                <c:pt idx="46">
                  <c:v>83.78</c:v>
                </c:pt>
                <c:pt idx="47">
                  <c:v>83.6</c:v>
                </c:pt>
                <c:pt idx="48">
                  <c:v>83.88</c:v>
                </c:pt>
                <c:pt idx="49">
                  <c:v>83.82</c:v>
                </c:pt>
              </c:numCache>
            </c:numRef>
          </c:val>
          <c:smooth val="0"/>
        </c:ser>
        <c:ser>
          <c:idx val="2"/>
          <c:order val="2"/>
          <c:tx>
            <c:v>Depthwise</c:v>
          </c:tx>
          <c:spPr>
            <a:ln xmlns:a="http://schemas.openxmlformats.org/drawingml/2006/main" w="28575">
              <a:solidFill>
                <a:srgbClr val="0F9D8A"/>
              </a:solidFill>
              <a:prstDash val="solid"/>
            </a:ln>
          </c:spPr>
          <c:marker>
            <c:symbol val="circle"/>
            <c:size val="2"/>
          </c:marker>
          <c:cat>
            <c:numRef>
              <c:f>'Chart Data'!$E$2:$E$51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cat>
          <c:val>
            <c:numRef>
              <c:f>'Chart Data'!$F$2:$F$51</c:f>
              <c:numCache>
                <c:formatCode>General</c:formatCode>
                <c:ptCount val="50"/>
                <c:pt idx="0">
                  <c:v>48.64</c:v>
                </c:pt>
                <c:pt idx="1">
                  <c:v>51.04</c:v>
                </c:pt>
                <c:pt idx="2">
                  <c:v>50.98</c:v>
                </c:pt>
                <c:pt idx="3">
                  <c:v>58.68</c:v>
                </c:pt>
                <c:pt idx="4">
                  <c:v>61.26</c:v>
                </c:pt>
                <c:pt idx="5">
                  <c:v>63.32</c:v>
                </c:pt>
                <c:pt idx="6">
                  <c:v>60.04</c:v>
                </c:pt>
                <c:pt idx="7">
                  <c:v>62.42</c:v>
                </c:pt>
                <c:pt idx="8">
                  <c:v>62.92</c:v>
                </c:pt>
                <c:pt idx="9">
                  <c:v>65.02</c:v>
                </c:pt>
                <c:pt idx="10">
                  <c:v>66</c:v>
                </c:pt>
                <c:pt idx="11">
                  <c:v>67.22</c:v>
                </c:pt>
                <c:pt idx="12">
                  <c:v>66.58</c:v>
                </c:pt>
                <c:pt idx="13">
                  <c:v>68.32</c:v>
                </c:pt>
                <c:pt idx="14">
                  <c:v>67.84</c:v>
                </c:pt>
                <c:pt idx="15">
                  <c:v>68.76</c:v>
                </c:pt>
                <c:pt idx="16">
                  <c:v>67.8</c:v>
                </c:pt>
                <c:pt idx="17">
                  <c:v>69.8</c:v>
                </c:pt>
                <c:pt idx="18">
                  <c:v>68.92</c:v>
                </c:pt>
                <c:pt idx="19">
                  <c:v>66.6</c:v>
                </c:pt>
                <c:pt idx="20">
                  <c:v>68.36</c:v>
                </c:pt>
                <c:pt idx="21">
                  <c:v>71.24</c:v>
                </c:pt>
                <c:pt idx="22">
                  <c:v>70.1</c:v>
                </c:pt>
                <c:pt idx="23">
                  <c:v>71.1</c:v>
                </c:pt>
                <c:pt idx="24">
                  <c:v>70.68</c:v>
                </c:pt>
                <c:pt idx="25">
                  <c:v>72.58</c:v>
                </c:pt>
                <c:pt idx="26">
                  <c:v>71.78</c:v>
                </c:pt>
                <c:pt idx="27">
                  <c:v>71.72</c:v>
                </c:pt>
                <c:pt idx="28">
                  <c:v>72.46</c:v>
                </c:pt>
                <c:pt idx="29">
                  <c:v>72.3</c:v>
                </c:pt>
                <c:pt idx="30">
                  <c:v>73.1</c:v>
                </c:pt>
                <c:pt idx="31">
                  <c:v>73.74</c:v>
                </c:pt>
                <c:pt idx="32">
                  <c:v>72.54</c:v>
                </c:pt>
                <c:pt idx="33">
                  <c:v>72.54</c:v>
                </c:pt>
                <c:pt idx="34">
                  <c:v>73.78</c:v>
                </c:pt>
                <c:pt idx="35">
                  <c:v>74.18</c:v>
                </c:pt>
                <c:pt idx="36">
                  <c:v>73.88</c:v>
                </c:pt>
                <c:pt idx="37">
                  <c:v>73.9</c:v>
                </c:pt>
                <c:pt idx="38">
                  <c:v>74.22</c:v>
                </c:pt>
                <c:pt idx="39">
                  <c:v>74.06</c:v>
                </c:pt>
                <c:pt idx="40">
                  <c:v>73.9</c:v>
                </c:pt>
                <c:pt idx="41">
                  <c:v>74.2</c:v>
                </c:pt>
                <c:pt idx="42">
                  <c:v>74.26</c:v>
                </c:pt>
                <c:pt idx="43">
                  <c:v>74.32</c:v>
                </c:pt>
                <c:pt idx="44">
                  <c:v>74.18</c:v>
                </c:pt>
                <c:pt idx="45">
                  <c:v>74.32</c:v>
                </c:pt>
                <c:pt idx="46">
                  <c:v>74.32</c:v>
                </c:pt>
                <c:pt idx="47">
                  <c:v>74.32</c:v>
                </c:pt>
                <c:pt idx="48">
                  <c:v>74.28</c:v>
                </c:pt>
                <c:pt idx="49">
                  <c:v>74.52</c:v>
                </c:pt>
              </c:numCache>
            </c:numRef>
          </c:val>
          <c:smooth val="0"/>
        </c:ser>
        <c:ser>
          <c:idx val="3"/>
          <c:order val="3"/>
          <c:tx>
            <c:v>Deformable</c:v>
          </c:tx>
          <c:spPr>
            <a:ln xmlns:a="http://schemas.openxmlformats.org/drawingml/2006/main" w="28575">
              <a:solidFill>
                <a:srgbClr val="E76F51"/>
              </a:solidFill>
              <a:prstDash val="solid"/>
            </a:ln>
          </c:spPr>
          <c:marker>
            <c:symbol val="circle"/>
            <c:size val="2"/>
          </c:marker>
          <c:cat>
            <c:numRef>
              <c:f>'Chart Data'!$G$2:$G$51</c:f>
              <c:numCache>
                <c:formatCode>General</c:formatCode>
                <c:ptCount val="5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</c:numCache>
            </c:numRef>
          </c:cat>
          <c:val>
            <c:numRef>
              <c:f>'Chart Data'!$H$2:$H$51</c:f>
              <c:numCache>
                <c:formatCode>General</c:formatCode>
                <c:ptCount val="50"/>
                <c:pt idx="0">
                  <c:v>55.72</c:v>
                </c:pt>
                <c:pt idx="1">
                  <c:v>61.4</c:v>
                </c:pt>
                <c:pt idx="2">
                  <c:v>67.22</c:v>
                </c:pt>
                <c:pt idx="3">
                  <c:v>69.26</c:v>
                </c:pt>
                <c:pt idx="4">
                  <c:v>73.64</c:v>
                </c:pt>
                <c:pt idx="5">
                  <c:v>75</c:v>
                </c:pt>
                <c:pt idx="6">
                  <c:v>74.5</c:v>
                </c:pt>
                <c:pt idx="7">
                  <c:v>76.5</c:v>
                </c:pt>
                <c:pt idx="8">
                  <c:v>77.3</c:v>
                </c:pt>
                <c:pt idx="9">
                  <c:v>77.66</c:v>
                </c:pt>
                <c:pt idx="10">
                  <c:v>78.34</c:v>
                </c:pt>
                <c:pt idx="11">
                  <c:v>78.52</c:v>
                </c:pt>
                <c:pt idx="12">
                  <c:v>80.86</c:v>
                </c:pt>
                <c:pt idx="13">
                  <c:v>80.4</c:v>
                </c:pt>
                <c:pt idx="14">
                  <c:v>79.56</c:v>
                </c:pt>
                <c:pt idx="15">
                  <c:v>81.2</c:v>
                </c:pt>
                <c:pt idx="16">
                  <c:v>81.68</c:v>
                </c:pt>
                <c:pt idx="17">
                  <c:v>81.56</c:v>
                </c:pt>
                <c:pt idx="18">
                  <c:v>80.94</c:v>
                </c:pt>
                <c:pt idx="19">
                  <c:v>82.22</c:v>
                </c:pt>
                <c:pt idx="20">
                  <c:v>83.32</c:v>
                </c:pt>
                <c:pt idx="21">
                  <c:v>82.32</c:v>
                </c:pt>
                <c:pt idx="22">
                  <c:v>82.84</c:v>
                </c:pt>
                <c:pt idx="23">
                  <c:v>83.32</c:v>
                </c:pt>
                <c:pt idx="24">
                  <c:v>83.36</c:v>
                </c:pt>
                <c:pt idx="25">
                  <c:v>83.78</c:v>
                </c:pt>
                <c:pt idx="26">
                  <c:v>83.96</c:v>
                </c:pt>
                <c:pt idx="27">
                  <c:v>84.68</c:v>
                </c:pt>
                <c:pt idx="28">
                  <c:v>84.26</c:v>
                </c:pt>
                <c:pt idx="29">
                  <c:v>84.06</c:v>
                </c:pt>
                <c:pt idx="30">
                  <c:v>84.34</c:v>
                </c:pt>
                <c:pt idx="31">
                  <c:v>83.9</c:v>
                </c:pt>
                <c:pt idx="32">
                  <c:v>84.5</c:v>
                </c:pt>
                <c:pt idx="33">
                  <c:v>85.04</c:v>
                </c:pt>
                <c:pt idx="34">
                  <c:v>85.02</c:v>
                </c:pt>
                <c:pt idx="35">
                  <c:v>85.18</c:v>
                </c:pt>
                <c:pt idx="36">
                  <c:v>85.02</c:v>
                </c:pt>
                <c:pt idx="37">
                  <c:v>85.28</c:v>
                </c:pt>
                <c:pt idx="38">
                  <c:v>85.24</c:v>
                </c:pt>
                <c:pt idx="39">
                  <c:v>85.28</c:v>
                </c:pt>
                <c:pt idx="40">
                  <c:v>85.38</c:v>
                </c:pt>
                <c:pt idx="41">
                  <c:v>85.48</c:v>
                </c:pt>
                <c:pt idx="42">
                  <c:v>85.44</c:v>
                </c:pt>
                <c:pt idx="43">
                  <c:v>85.32</c:v>
                </c:pt>
                <c:pt idx="44">
                  <c:v>85.24</c:v>
                </c:pt>
                <c:pt idx="45">
                  <c:v>85.46</c:v>
                </c:pt>
                <c:pt idx="46">
                  <c:v>85.52</c:v>
                </c:pt>
                <c:pt idx="47">
                  <c:v>85.6</c:v>
                </c:pt>
                <c:pt idx="48">
                  <c:v>85.64</c:v>
                </c:pt>
                <c:pt idx="49">
                  <c:v>85.52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Эпоха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8"/>
          <c:min val="4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1D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Validation accuracy, %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7F5F0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111827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5F0"/>
    </a:solidFill>
    <a:ln xmlns:a="http://schemas.openxmlformats.org/drawingml/2006/main" w="0">
      <a:solidFill>
        <a:srgbClr val="F7F5F0"/>
      </a:solidFill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3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8892E-A96F-4CCF-84E9-E8F88D66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162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9525">
            <a:solidFill>
              <a:srgbClr val="E76F51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8F763-9662-456B-B630-154F94F6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7620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Специальные виды</a:t>
            </a:r>
          </a:p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свёрток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9887A-6777-496A-83BD-8101E635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809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D5DFE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D5DFE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5DFEF"/>
                </a:solidFill>
                <a:latin typeface="Arial"/>
                <a:ea typeface="Arial"/>
                <a:cs typeface="Arial"/>
              </a:rPr>
              <a:t>Dilated, Depthwise и Deformable в классификации CIFAR-10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7A82A-BD26-4B2A-9C78-7AD66CA6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05D"/>
          </a:solidFill>
          <a:ln xmlns:a="http://schemas.openxmlformats.org/drawingml/2006/main" w="9525">
            <a:solidFill>
              <a:srgbClr val="3240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1D060D-C6AE-4FCC-A022-79CF6610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>
                <a:solidFill>
                  <a:srgbClr val="AAB8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>
                <a:solidFill>
                  <a:srgbClr val="AAB8D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AAB8D0"/>
                </a:solidFill>
                <a:latin typeface="Arial"/>
                <a:ea typeface="Arial"/>
                <a:cs typeface="Arial"/>
              </a:rPr>
              <a:t>Один датасет, одна архитектура, четыре оператора</a:t>
            </a:r>
          </a:p>
        </p:txBody>
      </p:sp>
    </p:spTree>
    <p:extLst>
      <p:ext uri="{BB962C8B-B14F-4D97-AF65-F5344CB8AC3E}">
        <p14:creationId xmlns:p14="http://schemas.microsoft.com/office/powerpoint/2010/main" val="8403600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252EC9-72C4-46AC-B20F-9A93C709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Одна архитектура, четыре оператора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C91259-EC14-4C69-8D55-AC25B649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880B38-9620-484A-8BF6-AB5B3B71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495DC-59EC-48F1-B9ED-591EEF2D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Что меняется при замене обычной свёртки 3×3?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4B8BB9-50E3-4C8E-8D02-2B07A258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1714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20730F-DBE5-4DFA-AC6E-A6AE63EE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241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Обычная 3×3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1088B6-8944-46F8-8C94-4486ECA4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14600"/>
            <a:ext cx="1714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EFE768-F9E0-4687-BF7E-C44318E8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241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Dilated d=2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04BEFD-D8B0-4B94-BD9D-288CDCE9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14600"/>
            <a:ext cx="1714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B14BB-2CC3-42C9-A1CA-026BF3B9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241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3DF977-B156-446C-B024-26203620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14600"/>
            <a:ext cx="1714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BE9E4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15405E-AF43-4B5E-B3B5-6820A6DA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24175"/>
            <a:ext cx="1485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Deformable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328821-B7AA-4EC5-98FB-9C8ECF88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Сравниваем качество, вычисления и карты признаков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5394EB-5959-4924-BFB8-EA5E3B50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Меняется только пространственный оператор в трёх блоках сети</a:t>
            </a:r>
          </a:p>
        </p:txBody>
      </p:sp>
    </p:spTree>
    <p:extLst>
      <p:ext uri="{BB962C8B-B14F-4D97-AF65-F5344CB8AC3E}">
        <p14:creationId xmlns:p14="http://schemas.microsoft.com/office/powerpoint/2010/main" val="13352051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E2CE52-2233-4FFF-917E-3DC9F3F4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Архитектура модели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10FBD0-A5B5-4A64-94F6-DE208C9E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F65C5-8B2B-437E-A123-E766DA75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736E1-C0E7-4658-81BF-B6948DCB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3D999B-8C56-40EB-9AA0-A58495C5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RGB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36017-9E02-44A9-A9AC-6895F83E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3×32×32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02F48-3801-4818-946C-66FAA7B3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14675"/>
            <a:ext cx="200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9525">
            <a:solidFill>
              <a:srgbClr val="59627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365CDF-A5FB-4C56-A010-FEB87AB5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0575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solidFill>
              <a:srgbClr val="59627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C92C9-18BF-41E9-AF23-39CF79FB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4F3BB-CA53-42B8-8838-A31F5C51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A0A82-8815-4017-A851-BFAD699E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16×32×32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3B6EF6-9F2D-426D-A0B0-365DC2C4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14675"/>
            <a:ext cx="200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9525">
            <a:solidFill>
              <a:srgbClr val="59627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1655EC-6A66-414F-ACFC-30A57D2F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575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solidFill>
              <a:srgbClr val="59627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EEA73D-0C9B-4418-AB7A-11276BF4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C9EA7B-4FC9-49A9-B624-804942D9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Special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678EAB-0ABB-4E81-B622-5EFB56C1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32×16×16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9D049F-8C75-4ECB-81B3-F221CD4B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14675"/>
            <a:ext cx="200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9525">
            <a:solidFill>
              <a:srgbClr val="59627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5E3C3F-7D79-4A8A-AAD1-8B99D43A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0575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solidFill>
              <a:srgbClr val="596273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8DF00C-7A83-4C1C-A767-65F4DA15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24E0E9-1AA9-4563-A65A-D0C31AF5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Special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18856E-DC4C-4FC0-BA9F-1DA117AB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64×8×8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D96798-7DE6-43AB-84D5-8716DDC4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114675"/>
            <a:ext cx="200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9525">
            <a:solidFill>
              <a:srgbClr val="59627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2932C3-0F7C-47AA-B8A6-88282F58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575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solidFill>
              <a:srgbClr val="59627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77A9C2-328D-4C9B-8F8F-131DF700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B415F5-3F3B-4034-9692-9EB77EFB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Special 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F5BE9B-B8C8-4C6E-B620-2533DE04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128×4×4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16DFAA-F671-41A7-99BB-3BC4EFE1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14675"/>
            <a:ext cx="200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9525">
            <a:solidFill>
              <a:srgbClr val="59627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F55E5A-CB5E-4F92-8CF8-25DD15D6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0575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96273"/>
          </a:solidFill>
          <a:ln xmlns:a="http://schemas.openxmlformats.org/drawingml/2006/main" w="0">
            <a:solidFill>
              <a:srgbClr val="596273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229A1E-F23F-42FE-B923-0B3E6E0E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57175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8AFD77-9CA2-4844-B93F-8F1DAE26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790825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GAP + FC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051A8D-E3BE-4991-A794-2EFE8CB0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2194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10 классов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4ED5AC-649A-44D7-A49D-C10F42BF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Stem, pooling и классификатор одинаковы во всех вариантах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8EBF8C-9825-41AB-90C2-D3921301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После каждого специального блока: BatchNorm, ReLU и MaxPool 2×2</a:t>
            </a:r>
          </a:p>
        </p:txBody>
      </p:sp>
    </p:spTree>
    <p:extLst>
      <p:ext uri="{BB962C8B-B14F-4D97-AF65-F5344CB8AC3E}">
        <p14:creationId xmlns:p14="http://schemas.microsoft.com/office/powerpoint/2010/main" val="217727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2E5984E-24A2-4FEE-B8E8-5381C294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Обычная и dilated свёртки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6C7200-7C30-4D83-B165-96E62E07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788B5A-4AC2-4509-99EA-39AF11AC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C894B0-5961-4BDA-ACD9-555DDE5A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002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Обычная 3×3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A94AF-F8E6-4025-94C6-92372626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DAC711-2D16-401F-A2D3-F8A9A9DD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370462-7B64-4C15-8AF7-E178C48C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1E9648-F6F2-40C6-AFBB-94F9B956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7A15B2-663A-4B4F-B6DD-A26909DD1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ED2E90-F932-412E-B498-56C14B54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40BE55-890E-437D-97EF-42825E79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57DC9D-A2F1-4B39-9C7F-15D4AFA9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BBC44E-0180-4844-88DE-578EE372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CAB759-2408-4D98-9779-3FE5AD57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2F9D63-345A-465E-999D-D42E9C59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FB0BAD-86C0-4EDC-A229-213F99F3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12A2B0-CE65-4AFC-A0F5-9DD0424C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7AEA40-73E3-4D32-B4FB-FE2A71BB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47C7AE-8F5A-4AF0-97F9-3C76689F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DFF46B-744A-4140-B756-1FDD781E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13043D-B8B0-4ECB-9494-0970CEE3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92EF01-FDBD-45C8-B865-6C3C6EE4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6693B2-FB64-4838-9E01-FF7A72B9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797879-50A8-49CB-B912-8D5174A3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D38E61-7AA2-4AAC-AC6B-587C96F3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15A385-2A76-45FC-9B8D-097F9931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440EF1-9FE0-48BB-A27B-E625CDDB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7988D4-4F58-4B7D-A693-92DEBB30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81ABCB-158D-44CD-A8D3-3FCBF52B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3C4D41-4621-4B18-9196-A2D67743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005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9 соседних точек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D0D09F-8B8A-4C1B-8089-AFB23230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6002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Dilated 3×3, d=2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5233BE-3B31-4F52-B761-957D32F9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F89AF7-650E-45CA-A5BE-AF5FCFA4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AF67A5-0F50-4D20-A6AE-4E351969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9333B6-75CC-466E-8A64-D6E9A7E1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2FBEBC-5608-446F-87E1-32C5C3A0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43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DC8A7C-6C81-49E5-9FC6-5CAD7E28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7680C0-6DF6-4EDA-9A94-DD7B8BB6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FE1C2D-731D-48CE-A34C-AABF15D5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30BC54-D1D8-477F-B84E-626CF512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57AC7A-7ACE-4E4F-A552-B9160ECC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5A90978-D271-44A7-94DF-F8712D81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BE59D2-89AC-4750-8AF6-8F70CD93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6E0A99-170F-4E4B-A85D-500DEBD9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7A931F3-BF04-4508-B3F8-531D0090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C05DB3-1FDF-44CB-855A-5925FE8F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670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EA13E64-35C4-4E2B-8A09-65F17775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47289C3-6695-4415-BF4D-5F86E85D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F9CF03-6849-4EB7-84B7-61D99720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BF7157D-8035-4AF9-9B4F-875F06F0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577E895-8BB3-41D0-9102-41E15406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29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6006A7-86FB-4887-B7A3-D5DA42B3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A31901B-7C89-4060-83DF-03C7D9D0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B637714-B6B0-4A79-B7D3-25864E2C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4F698D6-4D23-4318-B0E4-530CDE06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2D3C5BA-8E95-4412-9A78-8A4E804C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909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9891AEA-A266-400F-BF96-51931F5D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005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те же 9 точек в области 5×5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86DC2-5AE2-4D56-A7C2-43B98468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0F8AC4E-C7DF-418F-A1C8-AC3963EF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435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Рецептивное поле больше, а число весов то же</a:t>
            </a:r>
          </a:p>
        </p:txBody>
      </p:sp>
    </p:spTree>
    <p:extLst>
      <p:ext uri="{BB962C8B-B14F-4D97-AF65-F5344CB8AC3E}">
        <p14:creationId xmlns:p14="http://schemas.microsoft.com/office/powerpoint/2010/main" val="2363797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2FA06BB-703E-4636-8BF1-A2E21E34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 + pointwise: два разных действия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CC92AA-A75C-43EF-8CC4-63E30B6C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9FEA8-BBB6-4BE8-A646-AC02FDD5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29AF07-C432-46EB-BDE6-01D53ADD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 3×3: смотрит на соседние пиксели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6BE5BA-43A1-47BC-822A-0F3E9865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но каждый канал обрабатывает отдельно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299927-A0F9-42BA-951D-9D32D20A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DE0BE-8B80-42B5-8B80-A42B58AD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2EC313-6D56-4EC2-B425-76EDAC66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3842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CB5F49-631F-4F8C-85CB-4357FB50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717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7A46C-D8DB-4833-AFEC-610C8595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099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E26BED-EBE7-45BF-97E3-B523C337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38425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F3B6BB-51C2-448E-B235-CC9200A0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8127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solidFill>
              <a:srgbClr val="0F9D8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2A2DDA-CD4C-41F3-BAF4-7A9F871F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28875"/>
            <a:ext cx="685800" cy="4191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20A870-C8E5-45B6-9D9F-233FEAF8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241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3×3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F4B4AD-500D-48A3-990C-13B746A74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38425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323532-93F5-4B0A-B7D0-6AAF216F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8127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solidFill>
              <a:srgbClr val="0F9D8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239B20-1A00-4693-838E-B106BE2C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431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CFCF19-64C2-494C-AF84-03BD20E4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050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D26E0D-D898-4B11-BD84-3E6A0376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3842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6C94FA-012B-45DD-A767-6A376BB2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717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72BE5E-3738-4041-BDA5-F59A9539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099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CD008E-9C2E-41C3-B6DE-6134647C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F0EAF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F946B1-6F27-4319-9A02-AAE8758C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194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9EADFD-A6F2-4D48-90DA-DD95EA2F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5282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009BF3-D23A-4522-AEB5-569787FD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861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3412B5-D29A-4B63-9BE3-54BCC380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243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0EB87B-8000-4B5E-A839-E4CB8E95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52825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6E38C3-6698-4FDC-BC44-B74BEDAF6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49567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solidFill>
              <a:srgbClr val="0F9D8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A891DE-CE64-4939-AA9B-593A68D6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43275"/>
            <a:ext cx="685800" cy="4191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EE360A-6451-4953-A937-78DDDBF7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38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3×3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46B803-BE0D-40B1-98FB-586B01BD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552825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1FEC1A-464E-4FE4-AC41-5C1AB20C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9567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solidFill>
              <a:srgbClr val="0F9D8A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A4D3DE-BF38-4A59-9B1B-286F7FB7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575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F0EAF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054EF0-0241-45DF-93E5-59F669DB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194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3ACF2A-5641-4597-8956-536DF3D3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282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DDCEC3-130E-4348-B63F-BF28EF36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6861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29145D-1D0F-43C1-BDCB-313217BB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243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086721-6ADE-4754-8FF8-281E325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9525">
            <a:solidFill>
              <a:srgbClr val="E7F7F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C2BD64-310B-4798-8B5C-FE61DA67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338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1BA256-73D5-4300-A362-1F3D1D8A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6722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77474D-C7FC-436E-95F5-389347EF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005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D3DAC5-28E5-4108-B68C-FE233E2B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387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536AF9-67B6-455E-8024-9C97B576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67225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431038-3CC4-4219-A2A3-92D4AB2F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1007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solidFill>
              <a:srgbClr val="0F9D8A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FDEDFA-B7CA-41F6-B3F6-DBE3C91C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57675"/>
            <a:ext cx="685800" cy="4191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123613-6074-4053-9E58-8AE9A038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529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3×3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0078606-695F-4B11-BBEF-21219DAE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67225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230B249-7E41-4BF6-A15C-1CD0950F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solidFill>
              <a:srgbClr val="0F9D8A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0380594-58BE-49DA-979A-86099BA1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1719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7F7F4"/>
          </a:solidFill>
          <a:ln xmlns:a="http://schemas.openxmlformats.org/drawingml/2006/main" w="9525">
            <a:solidFill>
              <a:srgbClr val="E7F7F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46A7A11-EB66-4041-9030-711E445B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338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95370CD-BB5D-493A-AF8E-53ED56E2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46722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E07E15-DD37-4768-9519-9893D576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005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11E83C-C04E-4953-ACC6-FFB8FB98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387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22F2814-F23E-43C7-879A-3D3AD5FF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C1 → C1, C2 → C2, C3 → C3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AAE4016-40BB-4A6D-BE92-F6096786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66850"/>
            <a:ext cx="19050" cy="407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94B34F8-2D36-4B43-BD7B-8F8DBE7A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668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Pointwise 1×1: смешивает каналы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4091992-DBBF-4F59-932A-7ECB100A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в одной и той же позиции изображения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F7B723D-529A-4DC0-A9C9-E1913E32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4C5E0E1-F6EB-4A66-BDCF-C4F6CC38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04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1CF1359-D831-4085-B8B0-1A4C2E7A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96AB645-1D24-439B-A48C-CC24D455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71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1B71C51-C57C-4166-9AFB-F216D4E8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8605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83027A4-73BB-4656-857B-9DD50A74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28900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04EEC46-E0CA-4FC9-AE7E-DE9EA03F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2004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A2AB79E-01A4-4DF1-892F-374CBF64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1470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6AEC20C-2077-4FDA-93FE-233A30F0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57550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A2DFFFC-21BE-4FBD-9782-C78401A3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829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solidFill>
              <a:srgbClr val="0F9D8A"/>
            </a:solidFill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40991DE-CADB-4203-8C40-D8A8696A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94335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EDA0493-EE6D-4975-9417-2F703BBD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86200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B911FE0-0DBB-4468-94FC-462E0D31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86050"/>
            <a:ext cx="285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4E4265B-9DF8-4521-92AA-24EA3523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343275"/>
            <a:ext cx="1238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BFC170D-758B-455F-AE6B-00A441CD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861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F33A6C0-0E0C-4DB2-BCFF-ED94013F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685800" cy="4191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E46C7CA-E3E5-4A17-8028-A2F2FA38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385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1×1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89C08B-6155-480B-9BD9-65DBECC1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343275"/>
            <a:ext cx="1047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EE908C3-9338-4773-B48E-66B8AE19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286125"/>
            <a:ext cx="133350" cy="1428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A10FE0E-7122-4A0C-8838-9E98D3F3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289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EAF2FF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2572DD9-9838-45BE-8F97-0EEB1E2F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1908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7ACBE1F-6886-424C-A6DE-A6C1E356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32422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6324CFC-BB85-424C-8179-FFA87D49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4575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D38389F-24A7-4D13-93EF-1DFF8323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957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O1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4E8199C-91E9-4BAF-89B3-81EE9886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829050"/>
            <a:ext cx="5905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F0EAFE"/>
          </a:solidFill>
          <a:ln xmlns:a="http://schemas.openxmlformats.org/drawingml/2006/main" w="9525">
            <a:solidFill>
              <a:srgbClr val="F0EAFE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AE0A370-EA0E-4CAE-8264-B52F9E30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9909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5E12B68-FBC0-4235-BB1D-701832FA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12432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92C3D47-5AF7-4CFA-9951-A5A0491B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257675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B74BE98-BB67-453A-8DBA-0AFD1DB0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49580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O2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953C3F7-DF4A-44EA-8C59-89F2C626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6291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331ABC3-F523-4903-BDF0-682C44EA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38750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новые каналы O1, O2, …, Cout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0B86FA7-00B3-49EA-9608-B89BACE1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864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Итого: depthwise отвечает за пространство, pointwise — за связи между каналами</a:t>
            </a:r>
          </a:p>
        </p:txBody>
      </p:sp>
    </p:spTree>
    <p:extLst>
      <p:ext uri="{BB962C8B-B14F-4D97-AF65-F5344CB8AC3E}">
        <p14:creationId xmlns:p14="http://schemas.microsoft.com/office/powerpoint/2010/main" val="1691015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259D2C8-3A23-473A-825B-9D970794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Deformable convolution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579DF-1E9F-4900-BFAC-8B219C47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CA581-4D2C-4538-9CC8-F9344387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9FA53-D864-4A40-B49F-091FD739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002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Обычная сетка 3×3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2A8FF7-6D47-4491-B4FC-4CD60591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3EE176-972B-486A-98EF-E074CAA5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0CB30B-852A-4FE0-BDB4-B9028D5B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02DA7F-DB6F-48AF-9DC2-2BDA7F61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04AAAE-EA05-4D26-840B-0F53C2FC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23445-65B0-449A-9B34-97084D4A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F69306-D275-4BC2-A312-86FA53B8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98EC9-D44B-4312-9102-53643D9B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8C71C8-0A19-49D7-83C1-B0DD2608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41AA3C-21D6-4514-B528-EA624C61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8FE653-FB71-4DF9-8224-DDD2B158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8049DF-4A35-4A47-B3F4-A86FD71E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8987EC-1B37-465D-B30B-ED2F8BE7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005443-5EA7-4438-8DB3-0507BE6B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BC06C5-0150-44D1-A204-AC71C38F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539C2F-0B20-4A41-A411-910614E1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CA2C11-7257-467F-91B2-F6453AE0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F28AD2-DE40-43B0-A080-DCB219E7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F6A860-1BF5-43DC-8091-7FEDEE6C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6ACB7A-FF08-45A0-B261-6B8B8D51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C01F37-3BC2-4104-A014-E1198AD3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7852DE-AAD0-4967-B7B4-2524DE0B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8D4889-AE02-4274-9092-6247F706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0D60FF-4D86-4BA1-98B9-A5056911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EA79B8-AF16-47ED-A318-30B797F8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E18A04-66C7-4C92-9968-2E1DE5A7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002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+ offsets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25437C-E0D0-47CB-BCF7-4D7F680D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F3E76F-C436-4991-B1F1-56665196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ACB260-6406-46E9-9EDF-1C38AF59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00A77D-617D-45AD-BB07-6CD0C868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0CE85C-768D-480F-8C76-6B522B5E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81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33135D-F419-4C45-BFC9-631B2DFD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2C7643-12E3-4AA4-A02E-9353C6E6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E7A9602-B418-4DB7-86FF-74689EC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E927C2-0EAD-4A11-A436-91C7C02E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91FB46-26A0-4A4A-A09D-CD305D04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81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69020D-44A9-49FB-8AC2-13968BC1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AE0097-5CB3-4C3D-9F44-04A1F245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EDA7ED-19FE-42A8-BD9F-F6DE6680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75C8CE5-45A2-40A9-8EE3-42E0CCA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A2133D5-A58E-4757-970E-BEB959D1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813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2526DC3-86FE-4E98-BDAF-84B11FF6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DA0B9A-2245-4AD4-B434-E8234F43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3CDEF1-FC38-4CD6-8740-B9C45E77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4C1D78-EC34-4958-8016-E184BD33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F6830D0-E411-40E0-85CE-B8E58A26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814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FFD99F-0194-4917-B8FA-43A30F3D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EB5B844-6B02-4C66-A2B9-A4A93811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A8B62DE-35B8-465D-9E44-5E5A6A7F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0C70D6D-A675-42DC-B557-B0C008BD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2F74109-A579-4130-A57B-2A298828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981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DD2D8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AF591D8-5719-42FA-889D-862D23C2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4240" y="286131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DA7F7F-72E5-46F9-926D-6B45A35B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4295" y="266128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46B7099-61B3-4D50-A724-8752B906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4360" y="282130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FE9F1E3-496C-4E9B-89B8-F38C9811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4137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CB63701-2A77-4DDE-ADBF-99C17DFD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4310" y="31813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07CDAC7-38DC-4F3C-8EAC-8EE423C5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6138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DE45720-67BA-4F89-91F9-8166FD7F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4235" y="382143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2163E62-A89C-4ED0-9D4A-69A254D7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4305" y="366141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888CEE-3E12-4B42-B0AA-DF37B6E8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365" y="390144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4CCA7B-9DEB-4A32-9336-B1434BAF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Offset predictor выдаёт 18 чисел для ядра 3×3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4FC2CDA-87BB-44BF-BCEE-A8E2A3D0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9 пар координат (Δy, Δx) сдвигают точки выборки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F1C04B8-260A-41FF-8716-245672CA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3405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Дробные координаты: билинейная интерполяция</a:t>
            </a:r>
          </a:p>
        </p:txBody>
      </p:sp>
    </p:spTree>
    <p:extLst>
      <p:ext uri="{BB962C8B-B14F-4D97-AF65-F5344CB8AC3E}">
        <p14:creationId xmlns:p14="http://schemas.microsoft.com/office/powerpoint/2010/main" val="7645046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3BC0E6-9279-4DE3-A776-C6435C00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Один вход, одинаковые веса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EBBD4D-72F6-4289-B34B-5189C861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DC1C2-6A5D-4A3E-94AB-8F703598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FB228-B186-4CE0-BD9F-02B842FB45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38cfc1ff9d4c57"/>
          <a:stretch xmlns:a="http://schemas.openxmlformats.org/drawingml/2006/main"/>
        </p:blipFill>
        <p:spPr>
          <a:xfrm xmlns:a="http://schemas.openxmlformats.org/drawingml/2006/main">
            <a:off x="723900" y="1800754"/>
            <a:ext cx="10706100" cy="260879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2B391-2F4F-4FF3-B8CB-FC96B613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Во всех пространственных ядрах: 9 коэффициентов по 1/9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930067-7856-4B45-8178-690A99CE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054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Для depthwise показан один входной канал, поэтому после pointwise 1×1 результат совпадает с обычной 3×3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C0F1C6-172D-4A8E-9C28-BEFA6B4A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38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Deformable: показана фиксированная деформированная сетка только для иллюстрации</a:t>
            </a:r>
          </a:p>
        </p:txBody>
      </p:sp>
    </p:spTree>
    <p:extLst>
      <p:ext uri="{BB962C8B-B14F-4D97-AF65-F5344CB8AC3E}">
        <p14:creationId xmlns:p14="http://schemas.microsoft.com/office/powerpoint/2010/main" val="10990591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6795E2-DF07-4FCF-AB8B-F536ABBB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Протокол сравнения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E4B03-B23D-4860-8E35-2F059DF8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C32EAC-13F8-403B-A677-C8A40483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49D93D-4FEE-4525-830B-5BA2E001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1907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B0946-C20A-426F-AA26-F70C5AE0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45k / 5k / 10k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1BF93-0605-449F-9D2D-CC872EF8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908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train / val / 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B2A7EB-8F51-47EB-AEBE-67C31825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907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CEDCD9-EAFD-42C4-A79B-5549C0B88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765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E3FE9-234B-4639-9149-665FA843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908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эпох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E9E7DE-0F6E-47D0-991C-B8EA6283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21907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CC9B44-5870-477A-A94E-4AE3AB97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765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1F970-869C-4034-A951-8D22DD24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908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seed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B324C2-B285-40FB-BA33-665DCF37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33600"/>
            <a:ext cx="21907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88E80-0F6D-4543-B7C4-8EB46CFA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765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AdamW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CC204F-91AD-4AA7-8BA2-C6AEE2D9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908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оптимизатор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753A1E-2003-4D9F-9D9F-D0576AC2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Одинаковые аугментации, batch size, schedule и порядок данных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0D2227-ACF6-442C-B22E-4B5F1AA8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Checkpoint выбирается по validation accuracy. Test используется один раз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1C684D-5AF3-419A-82DF-F97EF277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53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Один seed на вариант: доверительный интервал не оценивался</a:t>
            </a:r>
          </a:p>
        </p:txBody>
      </p:sp>
    </p:spTree>
    <p:extLst>
      <p:ext uri="{BB962C8B-B14F-4D97-AF65-F5344CB8AC3E}">
        <p14:creationId xmlns:p14="http://schemas.microsoft.com/office/powerpoint/2010/main" val="12147904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7076A-D89C-4AC3-9360-A77893E8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Параметры и MACs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CC33C-AE16-4BBC-A82E-ACCD300D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CC3F8-6CA4-4F05-B6CB-9F2CCBF6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426317-03CE-4561-9ED4-96BDDE91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Параметры, тыс.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83724080-A92D-47E9-967D-B67D978004FF}"/>
              </a:ext>
            </a:extLst>
          </p:cNvPr>
          <p:cNvGraphicFramePr/>
          <p:nvPr/>
        </p:nvGraphicFramePr>
        <p:xfrm>
          <a:off xmlns:a="http://schemas.openxmlformats.org/drawingml/2006/main" x="666750" y="1952625"/>
          <a:ext xmlns:a="http://schemas.openxmlformats.org/drawingml/2006/main" cx="4762500" cy="3162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381299df574e3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2E2DF-0C6D-44A5-9A01-79A9C800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859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MACs, млн на изображение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4A75974-BF48-4252-A302-426453F8C9C4}"/>
              </a:ext>
            </a:extLst>
          </p:cNvPr>
          <p:cNvGraphicFramePr/>
          <p:nvPr/>
        </p:nvGraphicFramePr>
        <p:xfrm>
          <a:off xmlns:a="http://schemas.openxmlformats.org/drawingml/2006/main" x="6667500" y="1952625"/>
          <a:ext xmlns:a="http://schemas.openxmlformats.org/drawingml/2006/main" cx="4762500" cy="3162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21f66639104e6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B34E08-8122-430A-A9D4-44CE8E05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Depthwise: меньше параметров и MACs. Deformable: дополнительный offset predictor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461DE-F99A-49E6-9A38-CD49EEA4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341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MACs для deformable не включают билинейную интерполяцию и адресацию памяти</a:t>
            </a:r>
          </a:p>
        </p:txBody>
      </p:sp>
    </p:spTree>
    <p:extLst>
      <p:ext uri="{BB962C8B-B14F-4D97-AF65-F5344CB8AC3E}">
        <p14:creationId xmlns:p14="http://schemas.microsoft.com/office/powerpoint/2010/main" val="10552259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3FA3A5-E2D2-41ED-A895-59B544E3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Качество на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150338-26D4-4818-BD61-C0A79A20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3C78C9-34A1-418E-92F9-A68B405F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465EA573-0C37-4821-B520-9DAA73EC5341}"/>
              </a:ext>
            </a:extLst>
          </p:cNvPr>
          <p:cNvGraphicFramePr/>
          <p:nvPr/>
        </p:nvGraphicFramePr>
        <p:xfrm>
          <a:off xmlns:a="http://schemas.openxmlformats.org/drawingml/2006/main" x="819150" y="1581150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72421c21cd467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65A68D-E033-4495-BD48-73D250FE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76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85,06%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1D63A0-ED12-40CD-B6EB-20DB6375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Deformable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D80C0-F947-4C47-A5AA-00C5BE91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90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+1,37 п.п. к обычной 3×3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4198F-66EE-431B-B984-40618D59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38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Результат одного запуска, без проверки статистической значимости</a:t>
            </a:r>
          </a:p>
        </p:txBody>
      </p:sp>
    </p:spTree>
    <p:extLst>
      <p:ext uri="{BB962C8B-B14F-4D97-AF65-F5344CB8AC3E}">
        <p14:creationId xmlns:p14="http://schemas.microsoft.com/office/powerpoint/2010/main" val="15397223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0DE5D-2F02-4884-BCE8-7AD528AB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Динамика обучения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03DDB-334B-49ED-824E-94FDEB63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57591F-E83A-46A1-BDD7-63D39C01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01FF5B7A-A31B-49F8-A3EC-12805E08ACFA}"/>
              </a:ext>
            </a:extLst>
          </p:cNvPr>
          <p:cNvGraphicFramePr/>
          <p:nvPr/>
        </p:nvGraphicFramePr>
        <p:xfrm>
          <a:off xmlns:a="http://schemas.openxmlformats.org/drawingml/2006/main" x="762000" y="1524000"/>
          <a:ext xmlns:a="http://schemas.openxmlformats.org/drawingml/2006/main" cx="8096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1e97846c094507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9A40C2-8872-4746-8A16-F09FCD21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0955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Каждая линия: один запуск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88379-CF65-498C-B65A-BF26B09A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6705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Доверительный интервал требует нескольких независимых seed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6C449-3976-48A4-BC9C-20BA4095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Кривые нужны, чтобы показать сходимость, а не оценить разброс</a:t>
            </a:r>
          </a:p>
        </p:txBody>
      </p:sp>
    </p:spTree>
    <p:extLst>
      <p:ext uri="{BB962C8B-B14F-4D97-AF65-F5344CB8AC3E}">
        <p14:creationId xmlns:p14="http://schemas.microsoft.com/office/powerpoint/2010/main" val="44450611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90330C-4331-426E-B911-36A650AE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Карты признаков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3C486-221D-4037-9C62-3B963BFD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D5056D-405C-4C06-86F8-2EB740B8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1BE9F-42A3-4D0D-92F7-05F1543C9E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215359c914579"/>
          <a:stretch xmlns:a="http://schemas.openxmlformats.org/drawingml/2006/main"/>
        </p:blipFill>
        <p:spPr>
          <a:xfrm xmlns:a="http://schemas.openxmlformats.org/drawingml/2006/main">
            <a:off x="5723334" y="1428750"/>
            <a:ext cx="4250531" cy="4857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35A919-64C1-4D55-AC69-80C05B3D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Один вход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6DBD71-9116-4E9E-9776-32666ACC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Средняя абсолютная активация по каналам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55C3FE-D542-45DD-8C0B-91550CC3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Stage 1 и stage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2CF939-B86C-4993-8478-460D958C1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Сравниваем структуру, а не яркость между панелями</a:t>
            </a:r>
          </a:p>
        </p:txBody>
      </p:sp>
    </p:spTree>
    <p:extLst>
      <p:ext uri="{BB962C8B-B14F-4D97-AF65-F5344CB8AC3E}">
        <p14:creationId xmlns:p14="http://schemas.microsoft.com/office/powerpoint/2010/main" val="16821663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6528E4-D336-440B-9212-4391C390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Offsets deformable convolution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1EF19C-5489-4DA2-870C-4B2A6E52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231935-FB88-48A5-A953-149B1897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14DFF5-CF7B-4FA8-A5C6-C5BA9D7A7B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d1c1f5d57c45c1"/>
          <a:stretch xmlns:a="http://schemas.openxmlformats.org/drawingml/2006/main"/>
        </p:blipFill>
        <p:spPr>
          <a:xfrm xmlns:a="http://schemas.openxmlformats.org/drawingml/2006/main">
            <a:off x="704850" y="1919764"/>
            <a:ext cx="7486650" cy="237077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B4CF6-E486-4231-A707-3BA67A2A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Нулевые offsets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2FFA35-5554-4591-B54C-0A38EE4A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24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обычная 3×3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24D809-BF6D-4A83-B1A7-FFFD7692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099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После обучения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C318EB-1412-4A0B-974B-A110D18F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671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смещения зависят от позиции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45FD9A-96A9-4668-9378-EA2EBA0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81600"/>
            <a:ext cx="10363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3E475C-0455-4D11-AFF3-29F342AC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1000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Цветовые шкалы различаются. Сравниваем порядок величин и структуру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36A7CD-6F96-4647-93EA-30C1DB8B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00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При нулевых offsets DCNv1 совпадает с обычной свёрткой</a:t>
            </a:r>
          </a:p>
        </p:txBody>
      </p:sp>
    </p:spTree>
    <p:extLst>
      <p:ext uri="{BB962C8B-B14F-4D97-AF65-F5344CB8AC3E}">
        <p14:creationId xmlns:p14="http://schemas.microsoft.com/office/powerpoint/2010/main" val="16665549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A55A6E-78E3-4845-9AB9-ECF0D424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Когда применять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E60FFD-A151-4DC9-A056-F1AC84D7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2557C-155F-45D8-97F7-2847D1B6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752431-D400-4A7F-9C93-62EF5568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33350" cy="6858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7CB08-C3EC-408D-AB8B-239CFE20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7145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Обычная 3×3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A0206B-DCAF-4314-999C-0A7C4C22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145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надёжный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DD8BF-9E57-4166-8625-060AE177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765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B9EBCC-F178-4904-B1E1-239D571F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33350" cy="6858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D9AB4B-70F5-4C71-A3B1-8C94F198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Dilated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60A1FD-A121-449C-A2D6-2A663551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051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нужен больший контекст при том же разрешении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6AB9EB-8536-4165-8DA8-B7017E2B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671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A7B050-1F5C-4F30-B5E0-A8BF7568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133350" cy="6858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C91CEB-C585-4348-AFE8-A3AC43BA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957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840F3D-4032-47C8-9EE3-566861E6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957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важны память и число вычислений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FAEEFA-29E9-4093-8D35-47FDC636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B5ACD9-11B3-4CF3-9EAD-305D81EC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133350" cy="68580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9525">
            <a:solidFill>
              <a:srgbClr val="E76F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B3E047-1564-4DF4-9661-C8F9AA69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863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Deformable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BA18ED-2685-4A36-8484-52F33C78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863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объекты меняют форму и положение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7CA13F-0F32-4236-A16B-115D0CD9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Оператор выбирают по ограничению задачи, а не по одной метрике</a:t>
            </a:r>
          </a:p>
        </p:txBody>
      </p:sp>
    </p:spTree>
    <p:extLst>
      <p:ext uri="{BB962C8B-B14F-4D97-AF65-F5344CB8AC3E}">
        <p14:creationId xmlns:p14="http://schemas.microsoft.com/office/powerpoint/2010/main" val="83600420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95B735-A53B-4373-89CA-D8388927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Выводы и ограничения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0B3BD-1E3C-4EF3-A17A-A96A3C8E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18AF5-A496-4BA9-8789-5DE895F4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39FD9-01E9-4506-8FA5-11A7F110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133350" cy="59055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F1F09-106F-49FB-88FF-880B474C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85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Dilated: качество как у обычной 3×3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27CFE-B911-4BA2-92AD-49C050DE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133350" cy="59055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ED601-F62D-477A-A52D-4C15BB7F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24150"/>
            <a:ext cx="485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Depthwise: −84,4% MACs, но −8,98 п.п. точности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438A3D-70B9-4A9D-800C-494973E5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133350" cy="590550"/>
          </a:xfrm>
          <a:prstGeom xmlns:a="http://schemas.openxmlformats.org/drawingml/2006/main" prst="roundRect">
            <a:avLst>
              <a:gd name="adj" fmla="val 35714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9525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43863D-8920-47D5-BD14-05DD4D15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38550"/>
            <a:ext cx="4857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Deformable: лучший результат, но дороже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A7ED78-8176-460F-822E-F33EDE51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81150"/>
            <a:ext cx="1905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DFB0A-A957-4150-9A65-A6FF858C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145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Ограничения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E31CA3-9FC4-40AE-9A4D-36F43E09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2410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Один seed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Нет доверительного интервала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Классификация 32×32</a:t>
            </a:r>
          </a:p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Прямая замена операторов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96DE3F-11EE-4053-AD36-09C3FDF9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816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Следующий шаг: несколько seed и semantic segmentation</a:t>
            </a:r>
          </a:p>
        </p:txBody>
      </p:sp>
    </p:spTree>
    <p:extLst>
      <p:ext uri="{BB962C8B-B14F-4D97-AF65-F5344CB8AC3E}">
        <p14:creationId xmlns:p14="http://schemas.microsoft.com/office/powerpoint/2010/main" val="87006355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F117B9-06FF-4BA2-BC60-A7C021F7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Источники и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3080F1-E119-4EFB-AE32-AFE2D6DE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98E4BB-1610-447F-B5F2-523A76FC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FE3CD-E5CE-4FD1-87E6-385D488EC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102870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Yu, Koltun. Dilated Convolutions. 2015. arxiv.org/abs/1511.07122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Howard et al. MobileNets. 2017. arxiv.org/abs/1704.04861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Dai et al. Deformable Convolutional Networks. 2017. arxiv.org/abs/1703.06211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Krizhevsky. CIFAR-10. 2009. cs.toronto.edu/~kriz/cifar.html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PyTorch Conv2d. docs.pytorch.org/docs/stable/generated/torch.nn.Conv2d.html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B6CCC-AE12-4298-9035-5BB78A51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10363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8"/>
          </a:solidFill>
          <a:ln xmlns:a="http://schemas.openxmlformats.org/drawingml/2006/main" w="9525">
            <a:solidFill>
              <a:srgbClr val="E5E1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D82961-0E0C-456C-91DB-BF81E32C1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Код, результаты и презентация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984D7F-23FB-442E-96A2-674D665F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388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962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96273"/>
                </a:solidFill>
                <a:latin typeface="Arial"/>
                <a:ea typeface="Arial"/>
                <a:cs typeface="Arial"/>
              </a:rPr>
              <a:t>github.com/grilzzz/conv_presentation</a:t>
            </a:r>
          </a:p>
        </p:txBody>
      </p:sp>
    </p:spTree>
    <p:extLst>
      <p:ext uri="{BB962C8B-B14F-4D97-AF65-F5344CB8AC3E}">
        <p14:creationId xmlns:p14="http://schemas.microsoft.com/office/powerpoint/2010/main" val="19429014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2026-10-09T11:03:46.4910000Z</dcterms:created>
  <dcterms:modified xsi:type="dcterms:W3CDTF">2026-10-09T11:03:46.4910000Z</dcterms:modified>
</coreProperties>
</file>