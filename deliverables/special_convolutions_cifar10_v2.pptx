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997fd5827df45e4" Type="http://schemas.openxmlformats.org/officeDocument/2006/relationships/officeDocument" Target="ppt/presentation.xml"/><Relationship Id="R0f6769300ec94100" Type="http://schemas.openxmlformats.org/officeDocument/2006/relationships/extended-properties" Target="docProps/app.xml"/><Relationship Id="Rb56eb12c4cc94436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678baf5613454d"/>
  </p:sldMasterIdLst>
  <p:notesMasterIdLst>
    <p:notesMasterId xmlns:r="http://schemas.openxmlformats.org/officeDocument/2006/relationships" r:id="R36fe447b7da34557"/>
  </p:notesMasterIdLst>
  <p:sldIdLst>
    <p:sldId xmlns:r="http://schemas.openxmlformats.org/officeDocument/2006/relationships" id="256" r:id="R19bc303a1a944ca4"/>
    <p:sldId xmlns:r="http://schemas.openxmlformats.org/officeDocument/2006/relationships" id="257" r:id="R02f87ad59d0541c4"/>
    <p:sldId xmlns:r="http://schemas.openxmlformats.org/officeDocument/2006/relationships" id="258" r:id="R7a0cf5796e064e8e"/>
    <p:sldId xmlns:r="http://schemas.openxmlformats.org/officeDocument/2006/relationships" id="259" r:id="R1e274d18281d4ecb"/>
    <p:sldId xmlns:r="http://schemas.openxmlformats.org/officeDocument/2006/relationships" id="260" r:id="R7525cb96918d4600"/>
    <p:sldId xmlns:r="http://schemas.openxmlformats.org/officeDocument/2006/relationships" id="261" r:id="Re63b822c6b7143a2"/>
    <p:sldId xmlns:r="http://schemas.openxmlformats.org/officeDocument/2006/relationships" id="262" r:id="Rdb2284435f374cc3"/>
    <p:sldId xmlns:r="http://schemas.openxmlformats.org/officeDocument/2006/relationships" id="263" r:id="Rfe0e473dba514e58"/>
    <p:sldId xmlns:r="http://schemas.openxmlformats.org/officeDocument/2006/relationships" id="264" r:id="R93660285e7bb4f35"/>
    <p:sldId xmlns:r="http://schemas.openxmlformats.org/officeDocument/2006/relationships" id="265" r:id="R67da7b6442314471"/>
    <p:sldId xmlns:ns0="http://schemas.openxmlformats.org/officeDocument/2006/relationships" id="272" ns0:id="rId22"/>
    <p:sldId xmlns:r="http://schemas.openxmlformats.org/officeDocument/2006/relationships" id="266" r:id="R2cd8c21869fd40c3"/>
    <p:sldId xmlns:r="http://schemas.openxmlformats.org/officeDocument/2006/relationships" id="267" r:id="R93d4dcfcebe44f91"/>
    <p:sldId xmlns:r="http://schemas.openxmlformats.org/officeDocument/2006/relationships" id="268" r:id="Rb8921595e9d446bb"/>
    <p:sldId xmlns:r="http://schemas.openxmlformats.org/officeDocument/2006/relationships" id="269" r:id="R606e0010f55b49f0"/>
    <p:sldId xmlns:r="http://schemas.openxmlformats.org/officeDocument/2006/relationships" id="270" r:id="R94fdd2239a9d4131"/>
    <p:sldId xmlns:r="http://schemas.openxmlformats.org/officeDocument/2006/relationships" id="271" r:id="Re18678ffc29a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f87ad59d0541c4" Type="http://schemas.openxmlformats.org/officeDocument/2006/relationships/slide" Target="slides/slide2.xml"/><Relationship Id="R19bc303a1a944ca4" Type="http://schemas.openxmlformats.org/officeDocument/2006/relationships/slide" Target="slides/slide1.xml"/><Relationship Id="R1e274d18281d4ecb" Type="http://schemas.openxmlformats.org/officeDocument/2006/relationships/slide" Target="slides/slide4.xml"/><Relationship Id="R2cd8c21869fd40c3" Type="http://schemas.openxmlformats.org/officeDocument/2006/relationships/slide" Target="slides/slide11.xml"/><Relationship Id="R30126a78820f4552" Type="http://schemas.openxmlformats.org/officeDocument/2006/relationships/theme" Target="theme/theme1.xml"/><Relationship Id="R36fe447b7da34557" Type="http://schemas.openxmlformats.org/officeDocument/2006/relationships/notesMaster" Target="notesMasters/notesMaster1.xml"/><Relationship Id="R606e0010f55b49f0" Type="http://schemas.openxmlformats.org/officeDocument/2006/relationships/slide" Target="slides/slide14.xml"/><Relationship Id="R67da7b6442314471" Type="http://schemas.openxmlformats.org/officeDocument/2006/relationships/slide" Target="slides/slide10.xml"/><Relationship Id="R7525cb96918d4600" Type="http://schemas.openxmlformats.org/officeDocument/2006/relationships/slide" Target="slides/slide5.xml"/><Relationship Id="R7a0cf5796e064e8e" Type="http://schemas.openxmlformats.org/officeDocument/2006/relationships/slide" Target="slides/slide3.xml"/><Relationship Id="R93660285e7bb4f35" Type="http://schemas.openxmlformats.org/officeDocument/2006/relationships/slide" Target="slides/slide9.xml"/><Relationship Id="R93d4dcfcebe44f91" Type="http://schemas.openxmlformats.org/officeDocument/2006/relationships/slide" Target="slides/slide12.xml"/><Relationship Id="R94fdd2239a9d4131" Type="http://schemas.openxmlformats.org/officeDocument/2006/relationships/slide" Target="slides/slide15.xml"/><Relationship Id="Rb5678baf5613454d" Type="http://schemas.openxmlformats.org/officeDocument/2006/relationships/slideMaster" Target="slideMasters/slideMaster1.xml"/><Relationship Id="Rb8921595e9d446bb" Type="http://schemas.openxmlformats.org/officeDocument/2006/relationships/slide" Target="slides/slide13.xml"/><Relationship Id="Rc87aa4f59c824067" Type="http://schemas.openxmlformats.org/officeDocument/2006/relationships/tableStyles" Target="tableStyles.xml"/><Relationship Id="Rdb2284435f374cc3" Type="http://schemas.openxmlformats.org/officeDocument/2006/relationships/slide" Target="slides/slide7.xml"/><Relationship Id="Re18678ffc29a483f" Type="http://schemas.openxmlformats.org/officeDocument/2006/relationships/slide" Target="slides/slide16.xml"/><Relationship Id="Re63b822c6b7143a2" Type="http://schemas.openxmlformats.org/officeDocument/2006/relationships/slide" Target="slides/slide6.xml"/><Relationship Id="Rfda6535c8545449a" Type="http://schemas.openxmlformats.org/officeDocument/2006/relationships/presProps" Target="presProps.xml"/><Relationship Id="Rfe0e473dba514e58" Type="http://schemas.openxmlformats.org/officeDocument/2006/relationships/slide" Target="slides/slide8.xml"/><Relationship Id="rId22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Обычная 3×3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5"/>
            <c:spPr>
              <a:solidFill>
                <a:srgbClr val="2563EB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2563EB"/>
                        </a:solidFill>
                        <a:latin typeface="Arial"/>
                      </a:rPr>
                      <a:t>Обычная 3×3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</c:f>
              <c:numCache>
                <c:formatCode>General</c:formatCode>
                <c:ptCount val="1"/>
                <c:pt idx="0">
                  <c:v>14.599424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83.69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Dilated d=2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5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7C3AED"/>
                        </a:solidFill>
                        <a:latin typeface="Arial"/>
                      </a:rPr>
                      <a:t>Dilated d=2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Sheet1!$A$5:$A$5</c:f>
              <c:numCache>
                <c:formatCode>General</c:formatCode>
                <c:ptCount val="1"/>
                <c:pt idx="0">
                  <c:v>14.599424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83.57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Depthwise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5"/>
            <c:spPr>
              <a:solidFill>
                <a:srgbClr val="0F9D8A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0F9D8A"/>
                        </a:solidFill>
                        <a:latin typeface="Arial"/>
                      </a:rPr>
                      <a:t>Depthwise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Sheet1!$A$8:$A$8</c:f>
              <c:numCache>
                <c:formatCode>General</c:formatCode>
                <c:ptCount val="1"/>
                <c:pt idx="0">
                  <c:v>2.27456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74.71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Deformable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5"/>
            <c:spPr>
              <a:solidFill>
                <a:srgbClr val="E76F51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E76F51"/>
                        </a:solidFill>
                        <a:latin typeface="Arial"/>
                      </a:rPr>
                      <a:t>Deformable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Sheet1!$A$11:$A$11</c:f>
              <c:numCache>
                <c:formatCode>General</c:formatCode>
                <c:ptCount val="1"/>
                <c:pt idx="0">
                  <c:v>19.244288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85.06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1.0"/>
          <c:min val="0.0"/>
        </c:scaling>
        <c:delete val="0"/>
        <c:axPos val="b"/>
        <c:majorGridlines>
          <c:spPr>
            <a:ln w="9525">
              <a:solidFill>
                <a:srgbClr val="E5E1D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solidFill>
                      <a:srgbClr val="596273"/>
                    </a:solidFill>
                    <a:latin typeface="Arial"/>
                  </a:rPr>
                  <a:t>MACs на изображение, млн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1300">
                <a:solidFill>
                  <a:srgbClr val="596273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87.0"/>
          <c:min val="72.0"/>
        </c:scaling>
        <c:delete val="0"/>
        <c:axPos val="l"/>
        <c:majorGridlines>
          <c:spPr>
            <a:ln w="9525">
              <a:solidFill>
                <a:srgbClr val="E5E1D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solidFill>
                      <a:srgbClr val="596273"/>
                    </a:solidFill>
                    <a:latin typeface="Arial"/>
                  </a:rPr>
                  <a:t>Test accuracy, %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1300">
                <a:solidFill>
                  <a:srgbClr val="596273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3.0"/>
      </c:valAx>
      <c:spPr>
        <a:noFill/>
        <a:ln>
          <a:noFill/>
        </a:ln>
      </c:spPr>
    </c:plotArea>
    <c:plotVisOnly val="1"/>
    <c:dispBlanksAs val="gap"/>
    <c:showDLblsOverMax val="0"/>
  </c:chart>
  <c:spPr>
    <a:solidFill>
      <a:srgbClr val="F7F5F0"/>
    </a:solidFill>
    <a:ln>
      <a:noFill/>
    </a:ln>
  </c:spPr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e5835a86ece34a5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d94298c9d8a4111" Type="http://schemas.openxmlformats.org/officeDocument/2006/relationships/slide" Target="../slides/slide1.xml"/><Relationship Id="R31d25ed168b840b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9e7f1fc1acc4a6c" Type="http://schemas.openxmlformats.org/officeDocument/2006/relationships/slide" Target="../slides/slide2.xml"/><Relationship Id="Rb0269eebe5c9478f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4838ae01eac4656" Type="http://schemas.openxmlformats.org/officeDocument/2006/relationships/notesMaster" Target="../notesMasters/notesMaster1.xml"/><Relationship Id="Ra56d650b665e4a3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1a4761c6d4b4700" Type="http://schemas.openxmlformats.org/officeDocument/2006/relationships/notesMaster" Target="../notesMasters/notesMaster1.xml"/><Relationship Id="Rf1cc80e4809b4815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bb99207453a4e26" Type="http://schemas.openxmlformats.org/officeDocument/2006/relationships/slide" Target="../slides/slide5.xml"/><Relationship Id="R3253b482b42b43b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7a12d6f16414c6d" Type="http://schemas.openxmlformats.org/officeDocument/2006/relationships/slide" Target="../slides/slide6.xml"/><Relationship Id="Re3502a0cb30747d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490148e824d4919" Type="http://schemas.openxmlformats.org/officeDocument/2006/relationships/notesMaster" Target="../notesMasters/notesMaster1.xml"/><Relationship Id="R1c4c1c303dd4432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72d88b576e9f438c" Type="http://schemas.openxmlformats.org/officeDocument/2006/relationships/notesMaster" Target="../notesMasters/notesMaster1.xml"/><Relationship Id="Rf268f64468ad47a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35264bb40f14ea1" Type="http://schemas.openxmlformats.org/officeDocument/2006/relationships/notesMaster" Target="../notesMasters/notesMaster1.xml"/><Relationship Id="R71010ede42344db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9c5d401df864372" Type="http://schemas.openxmlformats.org/officeDocument/2006/relationships/slide" Target="../slides/slide10.xml"/><Relationship Id="Rafe1801598a24ca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3373e74451a439a" Type="http://schemas.openxmlformats.org/officeDocument/2006/relationships/slide" Target="../slides/slide11.xml"/><Relationship Id="R9bda9453e629471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a7f6936188e4479" Type="http://schemas.openxmlformats.org/officeDocument/2006/relationships/notesMaster" Target="../notesMasters/notesMaster1.xml"/><Relationship Id="R98d5efcddeb24c0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b07a6c1295e4f6f" Type="http://schemas.openxmlformats.org/officeDocument/2006/relationships/slide" Target="../slides/slide13.xml"/><Relationship Id="Re688103f97084d1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b29fce4909164f5c" Type="http://schemas.openxmlformats.org/officeDocument/2006/relationships/notesMaster" Target="../notesMasters/notesMaster1.xml"/><Relationship Id="Rbdbae7336a17444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0cf37e070a74dd6" Type="http://schemas.openxmlformats.org/officeDocument/2006/relationships/notesMaster" Target="../notesMasters/notesMaster1.xml"/><Relationship Id="Re74954913a5c4873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56d52761974847b2" Type="http://schemas.openxmlformats.org/officeDocument/2006/relationships/slide" Target="../slides/slide16.xml"/><Relationship Id="Ra8cbf1f759b3444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CIFAR-10: https://www.cs.toronto.edu/~kriz/cifar.html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Yu &amp; Koltun, 2015: https://arxiv.org/abs/1511.07122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MobileNets: https://arxiv.org/abs/1704.04861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Dai et al., 2017: https://arxiv.org/abs/1703.06211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MNIST: http://yann.lecun.com/exdb/mnist/; скрипт: scripts/make_operator_demo.py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 по эпохам: outputs_full/training_history.csv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Результат: outputs_full/feature_maps.png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Dai et al., 2017: https://arxiv.org/abs/1703.06211; результат: outputs_full/deform_offsets.png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Полные ссылки: research/SOURCES.md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4f7e7f34cb024d3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2507b1becb8461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4d066ee98fc443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9d92df072be464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c73b4eb1e0644ce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0ef8969edb784f2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CD5DFD-5F74-4103-887A-EFD8632F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529D13-46D3-4131-AF86-6D72042ACD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A1CFC0-71CE-4F70-A9F0-59A352606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3CAEBC-A32D-4141-BD34-A24261E23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06888E-B75F-4B7C-BFEE-849C56842E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3934E4-2B57-49BC-9254-99DF8F6B6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32B8CF-7FD5-4AE7-9423-9596356CB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BBFEC4-99CE-4BF2-8205-BE4D99230D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E7D4B-F4D1-4CA1-8A95-FDE3CF93A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8295A6-E438-4F9D-9337-DA5875EE7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28cced1585b4a89" Type="http://schemas.openxmlformats.org/officeDocument/2006/relationships/slideLayout" Target="../slideLayouts/slideLayout6.xml"/><Relationship Id="R375c7fc0972b4b64" Type="http://schemas.openxmlformats.org/officeDocument/2006/relationships/slideLayout" Target="../slideLayouts/slideLayout4.xml"/><Relationship Id="R416e440c1097412a" Type="http://schemas.openxmlformats.org/officeDocument/2006/relationships/slideLayout" Target="../slideLayouts/slideLayout2.xml"/><Relationship Id="R6679791b3eff4a3d" Type="http://schemas.openxmlformats.org/officeDocument/2006/relationships/theme" Target="theme/theme2.xml"/><Relationship Id="Ra7593458e9d244c5" Type="http://schemas.openxmlformats.org/officeDocument/2006/relationships/slideLayout" Target="../slideLayouts/slideLayout3.xml"/><Relationship Id="Rc6f1b7968d4f4d05" Type="http://schemas.openxmlformats.org/officeDocument/2006/relationships/slideLayout" Target="../slideLayouts/slideLayout5.xml"/><Relationship Id="Rd359bcec1d4845c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9bcec1d4845c2"/>
    <p:sldLayoutId xmlns:r="http://schemas.openxmlformats.org/officeDocument/2006/relationships" id="2147483650" r:id="R416e440c1097412a"/>
    <p:sldLayoutId xmlns:r="http://schemas.openxmlformats.org/officeDocument/2006/relationships" id="2147483651" r:id="Ra7593458e9d244c5"/>
    <p:sldLayoutId xmlns:r="http://schemas.openxmlformats.org/officeDocument/2006/relationships" id="2147483652" r:id="R375c7fc0972b4b64"/>
    <p:sldLayoutId xmlns:r="http://schemas.openxmlformats.org/officeDocument/2006/relationships" id="2147483653" r:id="Rc6f1b7968d4f4d05"/>
    <p:sldLayoutId xmlns:r="http://schemas.openxmlformats.org/officeDocument/2006/relationships" id="2147483654" r:id="R328cced1585b4a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c32616c603aa406c" Type="http://schemas.openxmlformats.org/officeDocument/2006/relationships/slideLayout" Target="../slideLayouts/slideLayout6.xml"/><Relationship Id="Rd77a9f291f734df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f92b795eff2444c" Type="http://schemas.openxmlformats.org/officeDocument/2006/relationships/slideLayout" Target="../slideLayouts/slideLayout6.xml"/><Relationship Id="R7ec06f64b72c466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5105fd0d3af432d" Type="http://schemas.openxmlformats.org/officeDocument/2006/relationships/slideLayout" Target="../slideLayouts/slideLayout6.xml"/><Relationship Id="R76757eaca20947a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d3c65ff9e5e4658" Type="http://schemas.openxmlformats.org/officeDocument/2006/relationships/slideLayout" Target="../slideLayouts/slideLayout6.xml"/><Relationship Id="R39420f7adfd948a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b7225a6a80ef4f2c" Type="http://schemas.openxmlformats.org/officeDocument/2006/relationships/notesSlide" Target="../notesSlides/notesSlide5.xml"/><Relationship Id="Re62bad4cdf5843eb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528c89e873dc4a1e" Type="http://schemas.openxmlformats.org/officeDocument/2006/relationships/notesSlide" Target="../notesSlides/notesSlide6.xml"/><Relationship Id="R8927b9f6420143e2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49b8b7c511fd42b5" Type="http://schemas.openxmlformats.org/officeDocument/2006/relationships/image" Target="../media/image.png"/><Relationship Id="R62c870fb70af44f5" Type="http://schemas.openxmlformats.org/officeDocument/2006/relationships/notesSlide" Target="../notesSlides/notesSlide7.xml"/><Relationship Id="R92df261fe02143f3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56d107d738db4ba4" Type="http://schemas.openxmlformats.org/officeDocument/2006/relationships/slideLayout" Target="../slideLayouts/slideLayout6.xml"/><Relationship Id="R95d07521d11f44b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6f695c7bf5d4923" Type="http://schemas.openxmlformats.org/officeDocument/2006/relationships/notesSlide" Target="../notesSlides/notesSlide9.xml"/><Relationship Id="R2ccebab8c93948dd" Type="http://schemas.openxmlformats.org/officeDocument/2006/relationships/chart" Target="charts/chart1.xml"/><Relationship Id="R7818ec47e19d4ded" Type="http://schemas.openxmlformats.org/officeDocument/2006/relationships/slideLayout" Target="../slideLayouts/slideLayout6.xml"/><Relationship Id="R94b25d1b019e4a78" Type="http://schemas.openxmlformats.org/officeDocument/2006/relationships/chart" Target="charts/chart2.xml"/></Relationships>
</file>

<file path=ppt/slides/_rels/slide10.xml.rels><?xml version='1.0' encoding='UTF-8' standalone='yes'?>
<Relationships xmlns="http://schemas.openxmlformats.org/package/2006/relationships"><Relationship Id="R84bb2a5175ec4e07" Type="http://schemas.openxmlformats.org/officeDocument/2006/relationships/notesSlide" Target="../notesSlides/notesSlide10.xml"/><Relationship Id="Ree0f5b32391c4311" Type="http://schemas.openxmlformats.org/officeDocument/2006/relationships/chart" Target="charts/chart3.xml"/><Relationship Id="Rf9892a93b850422f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8b7cf61bbacc4fcb" Type="http://schemas.openxmlformats.org/officeDocument/2006/relationships/slideLayout" Target="../slideLayouts/slideLayout6.xml"/><Relationship Id="Rbf5f2d13e3a344ab" Type="http://schemas.openxmlformats.org/officeDocument/2006/relationships/notesSlide" Target="../notesSlides/notesSlide11.xml"/><Relationship Id="Refd1ace0fe7e43ca" Type="http://schemas.openxmlformats.org/officeDocument/2006/relationships/chart" Target="charts/chart4.xml"/></Relationships>
</file>

<file path=ppt/slides/_rels/slide12.xml.rels><?xml version='1.0' encoding='UTF-8' standalone='yes'?>
<Relationships xmlns="http://schemas.openxmlformats.org/package/2006/relationships"><Relationship Id="R4a08eda93d134461" Type="http://schemas.openxmlformats.org/officeDocument/2006/relationships/notesSlide" Target="../notesSlides/notesSlide12.xml"/><Relationship Id="R883a26dabfcf47fe" Type="http://schemas.openxmlformats.org/officeDocument/2006/relationships/image" Target="../media/image2.png"/><Relationship Id="Re3936323c2e84816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2da8a41a99c44b01" Type="http://schemas.openxmlformats.org/officeDocument/2006/relationships/notesSlide" Target="../notesSlides/notesSlide13.xml"/><Relationship Id="R5c3183757aad4b49" Type="http://schemas.openxmlformats.org/officeDocument/2006/relationships/slideLayout" Target="../slideLayouts/slideLayout6.xml"/><Relationship Id="R8a55d9e4c4ef4a6a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01cba09419624eba" Type="http://schemas.openxmlformats.org/officeDocument/2006/relationships/slideLayout" Target="../slideLayouts/slideLayout6.xml"/><Relationship Id="Rc625e96d5d994c5f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6419921735c1432b" Type="http://schemas.openxmlformats.org/officeDocument/2006/relationships/slideLayout" Target="../slideLayouts/slideLayout6.xml"/><Relationship Id="Rf4608bce4172470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168e81944652478f" Type="http://schemas.openxmlformats.org/officeDocument/2006/relationships/notesSlide" Target="../notesSlides/notesSlide16.xml"/><Relationship Id="R9aef5aed2f944480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тыс.</c:v>
          </c:tx>
          <c:dPt>
            <c:idx val="0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3A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Обычная 3×3</c:v>
                </c:pt>
                <c:pt idx="1">
                  <c:v>Dilated d=2</c:v>
                </c:pt>
                <c:pt idx="2">
                  <c:v>Depthwise</c:v>
                </c:pt>
                <c:pt idx="3">
                  <c:v>Deformable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98.97</c:v>
                </c:pt>
                <c:pt idx="1">
                  <c:v>98.97</c:v>
                </c:pt>
                <c:pt idx="2">
                  <c:v>13.96</c:v>
                </c:pt>
                <c:pt idx="3">
                  <c:v>117.39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00" b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axMin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ax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млн</c:v>
          </c:tx>
          <c:dPt>
            <c:idx val="0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3A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Обычная 3×3</c:v>
                </c:pt>
                <c:pt idx="1">
                  <c:v>Dilated d=2</c:v>
                </c:pt>
                <c:pt idx="2">
                  <c:v>Depthwise</c:v>
                </c:pt>
                <c:pt idx="3">
                  <c:v>Deformable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14.6</c:v>
                </c:pt>
                <c:pt idx="1">
                  <c:v>14.6</c:v>
                </c:pt>
                <c:pt idx="2">
                  <c:v>2.27</c:v>
                </c:pt>
                <c:pt idx="3">
                  <c:v>19.24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00" b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axMin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ax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accuracy, %</c:v>
          </c:tx>
          <c:dPt>
            <c:idx val="0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3A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Обычная 3×3</c:v>
                </c:pt>
                <c:pt idx="1">
                  <c:v>Dilated d=2</c:v>
                </c:pt>
                <c:pt idx="2">
                  <c:v>Depthwise</c:v>
                </c:pt>
                <c:pt idx="3">
                  <c:v>Deformable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83.69</c:v>
                </c:pt>
                <c:pt idx="1">
                  <c:v>83.57</c:v>
                </c:pt>
                <c:pt idx="2">
                  <c:v>74.71</c:v>
                </c:pt>
                <c:pt idx="3">
                  <c:v>85.06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7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00" b="0">
                    <a:solidFill>
                      <a:srgbClr val="596273"/>
                    </a:solidFill>
                    <a:latin typeface="Arial"/>
                    <a:ea typeface="Arial"/>
                    <a:cs typeface="Arial"/>
                  </a:rPr>
                  <a:t>Accuracy,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00" b="0">
                  <a:solidFill>
                    <a:srgbClr val="59627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Обычная 3×3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none"/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'Chart Data'!$B$2:$B$51</c:f>
              <c:numCache>
                <c:formatCode>General</c:formatCode>
                <c:ptCount val="50"/>
                <c:pt idx="0">
                  <c:v>50.12</c:v>
                </c:pt>
                <c:pt idx="1">
                  <c:v>61</c:v>
                </c:pt>
                <c:pt idx="2">
                  <c:v>60.7</c:v>
                </c:pt>
                <c:pt idx="3">
                  <c:v>67.22</c:v>
                </c:pt>
                <c:pt idx="4">
                  <c:v>68.66</c:v>
                </c:pt>
                <c:pt idx="5">
                  <c:v>68.58</c:v>
                </c:pt>
                <c:pt idx="6">
                  <c:v>68.68</c:v>
                </c:pt>
                <c:pt idx="7">
                  <c:v>68.52</c:v>
                </c:pt>
                <c:pt idx="8">
                  <c:v>68.5</c:v>
                </c:pt>
                <c:pt idx="9">
                  <c:v>74.72</c:v>
                </c:pt>
                <c:pt idx="10">
                  <c:v>72.7</c:v>
                </c:pt>
                <c:pt idx="11">
                  <c:v>74.86</c:v>
                </c:pt>
                <c:pt idx="12">
                  <c:v>73.28</c:v>
                </c:pt>
                <c:pt idx="13">
                  <c:v>74.82</c:v>
                </c:pt>
                <c:pt idx="14">
                  <c:v>77.84</c:v>
                </c:pt>
                <c:pt idx="15">
                  <c:v>75</c:v>
                </c:pt>
                <c:pt idx="16">
                  <c:v>78.14</c:v>
                </c:pt>
                <c:pt idx="17">
                  <c:v>79.14</c:v>
                </c:pt>
                <c:pt idx="18">
                  <c:v>79.7</c:v>
                </c:pt>
                <c:pt idx="19">
                  <c:v>78.94</c:v>
                </c:pt>
                <c:pt idx="20">
                  <c:v>78.54</c:v>
                </c:pt>
                <c:pt idx="21">
                  <c:v>79.3</c:v>
                </c:pt>
                <c:pt idx="22">
                  <c:v>79.5</c:v>
                </c:pt>
                <c:pt idx="23">
                  <c:v>80.78</c:v>
                </c:pt>
                <c:pt idx="24">
                  <c:v>80.4</c:v>
                </c:pt>
                <c:pt idx="25">
                  <c:v>81.1</c:v>
                </c:pt>
                <c:pt idx="26">
                  <c:v>79.46</c:v>
                </c:pt>
                <c:pt idx="27">
                  <c:v>80.56</c:v>
                </c:pt>
                <c:pt idx="28">
                  <c:v>81.82</c:v>
                </c:pt>
                <c:pt idx="29">
                  <c:v>82.04</c:v>
                </c:pt>
                <c:pt idx="30">
                  <c:v>81.84</c:v>
                </c:pt>
                <c:pt idx="31">
                  <c:v>82.64</c:v>
                </c:pt>
                <c:pt idx="32">
                  <c:v>82.48</c:v>
                </c:pt>
                <c:pt idx="33">
                  <c:v>82.62</c:v>
                </c:pt>
                <c:pt idx="34">
                  <c:v>82.76</c:v>
                </c:pt>
                <c:pt idx="35">
                  <c:v>82.88</c:v>
                </c:pt>
                <c:pt idx="36">
                  <c:v>82.9</c:v>
                </c:pt>
                <c:pt idx="37">
                  <c:v>83</c:v>
                </c:pt>
                <c:pt idx="38">
                  <c:v>82.94</c:v>
                </c:pt>
                <c:pt idx="39">
                  <c:v>83.34</c:v>
                </c:pt>
                <c:pt idx="40">
                  <c:v>83.08</c:v>
                </c:pt>
                <c:pt idx="41">
                  <c:v>83.38</c:v>
                </c:pt>
                <c:pt idx="42">
                  <c:v>83.5</c:v>
                </c:pt>
                <c:pt idx="43">
                  <c:v>83.52</c:v>
                </c:pt>
                <c:pt idx="44">
                  <c:v>83.58</c:v>
                </c:pt>
                <c:pt idx="45">
                  <c:v>83.56</c:v>
                </c:pt>
                <c:pt idx="46">
                  <c:v>83.46</c:v>
                </c:pt>
                <c:pt idx="47">
                  <c:v>83.56</c:v>
                </c:pt>
                <c:pt idx="48">
                  <c:v>83.56</c:v>
                </c:pt>
                <c:pt idx="49">
                  <c:v>83.62</c:v>
                </c:pt>
              </c:numCache>
            </c:numRef>
          </c:yVal>
          <c:smooth val="0"/>
        </c:ser>
        <c:ser>
          <c:idx val="1"/>
          <c:order val="1"/>
          <c:tx>
            <c:v>Dilated d=2</c:v>
          </c:tx>
          <c:spPr>
            <a:ln xmlns:a="http://schemas.openxmlformats.org/drawingml/2006/main" w="28575">
              <a:solidFill>
                <a:srgbClr val="7C3AED"/>
              </a:solidFill>
              <a:prstDash val="solid"/>
            </a:ln>
          </c:spPr>
          <c:marker>
            <c:symbol val="none"/>
          </c:marker>
          <c:xVal>
            <c:numRef>
              <c:f>'Chart Data'!$C$2:$C$51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'Chart Data'!$D$2:$D$51</c:f>
              <c:numCache>
                <c:formatCode>General</c:formatCode>
                <c:ptCount val="50"/>
                <c:pt idx="0">
                  <c:v>50.04</c:v>
                </c:pt>
                <c:pt idx="1">
                  <c:v>58.34</c:v>
                </c:pt>
                <c:pt idx="2">
                  <c:v>63.28</c:v>
                </c:pt>
                <c:pt idx="3">
                  <c:v>65.14</c:v>
                </c:pt>
                <c:pt idx="4">
                  <c:v>70.72</c:v>
                </c:pt>
                <c:pt idx="5">
                  <c:v>70.48</c:v>
                </c:pt>
                <c:pt idx="6">
                  <c:v>71.84</c:v>
                </c:pt>
                <c:pt idx="7">
                  <c:v>73.32</c:v>
                </c:pt>
                <c:pt idx="8">
                  <c:v>73.46</c:v>
                </c:pt>
                <c:pt idx="9">
                  <c:v>75.96</c:v>
                </c:pt>
                <c:pt idx="10">
                  <c:v>75.18</c:v>
                </c:pt>
                <c:pt idx="11">
                  <c:v>77.64</c:v>
                </c:pt>
                <c:pt idx="12">
                  <c:v>77.88</c:v>
                </c:pt>
                <c:pt idx="13">
                  <c:v>78.08</c:v>
                </c:pt>
                <c:pt idx="14">
                  <c:v>78.36</c:v>
                </c:pt>
                <c:pt idx="15">
                  <c:v>78.82</c:v>
                </c:pt>
                <c:pt idx="16">
                  <c:v>80.34</c:v>
                </c:pt>
                <c:pt idx="17">
                  <c:v>80.22</c:v>
                </c:pt>
                <c:pt idx="18">
                  <c:v>79.22</c:v>
                </c:pt>
                <c:pt idx="19">
                  <c:v>78.68</c:v>
                </c:pt>
                <c:pt idx="20">
                  <c:v>80.66</c:v>
                </c:pt>
                <c:pt idx="21">
                  <c:v>79.92</c:v>
                </c:pt>
                <c:pt idx="22">
                  <c:v>80.2</c:v>
                </c:pt>
                <c:pt idx="23">
                  <c:v>80.84</c:v>
                </c:pt>
                <c:pt idx="24">
                  <c:v>81.44</c:v>
                </c:pt>
                <c:pt idx="25">
                  <c:v>81.58</c:v>
                </c:pt>
                <c:pt idx="26">
                  <c:v>81.74</c:v>
                </c:pt>
                <c:pt idx="27">
                  <c:v>82.2</c:v>
                </c:pt>
                <c:pt idx="28">
                  <c:v>82.32</c:v>
                </c:pt>
                <c:pt idx="29">
                  <c:v>82.42</c:v>
                </c:pt>
                <c:pt idx="30">
                  <c:v>82.42</c:v>
                </c:pt>
                <c:pt idx="31">
                  <c:v>82.58</c:v>
                </c:pt>
                <c:pt idx="32">
                  <c:v>82.8</c:v>
                </c:pt>
                <c:pt idx="33">
                  <c:v>82.92</c:v>
                </c:pt>
                <c:pt idx="34">
                  <c:v>83.12</c:v>
                </c:pt>
                <c:pt idx="35">
                  <c:v>82.5</c:v>
                </c:pt>
                <c:pt idx="36">
                  <c:v>82.82</c:v>
                </c:pt>
                <c:pt idx="37">
                  <c:v>82.92</c:v>
                </c:pt>
                <c:pt idx="38">
                  <c:v>83.56</c:v>
                </c:pt>
                <c:pt idx="39">
                  <c:v>83.1</c:v>
                </c:pt>
                <c:pt idx="40">
                  <c:v>83.54</c:v>
                </c:pt>
                <c:pt idx="41">
                  <c:v>83.58</c:v>
                </c:pt>
                <c:pt idx="42">
                  <c:v>83.52</c:v>
                </c:pt>
                <c:pt idx="43">
                  <c:v>83.58</c:v>
                </c:pt>
                <c:pt idx="44">
                  <c:v>83.7</c:v>
                </c:pt>
                <c:pt idx="45">
                  <c:v>83.9</c:v>
                </c:pt>
                <c:pt idx="46">
                  <c:v>83.78</c:v>
                </c:pt>
                <c:pt idx="47">
                  <c:v>83.6</c:v>
                </c:pt>
                <c:pt idx="48">
                  <c:v>83.88</c:v>
                </c:pt>
                <c:pt idx="49">
                  <c:v>83.82</c:v>
                </c:pt>
              </c:numCache>
            </c:numRef>
          </c:yVal>
          <c:smooth val="0"/>
        </c:ser>
        <c:ser>
          <c:idx val="2"/>
          <c:order val="2"/>
          <c:tx>
            <c:v>Depthwise</c:v>
          </c:tx>
          <c:spPr>
            <a:ln xmlns:a="http://schemas.openxmlformats.org/drawingml/2006/main" w="28575">
              <a:solidFill>
                <a:srgbClr val="0F9D8A"/>
              </a:solidFill>
              <a:prstDash val="solid"/>
            </a:ln>
          </c:spPr>
          <c:marker>
            <c:symbol val="none"/>
          </c:marker>
          <c:xVal>
            <c:numRef>
              <c:f>'Chart Data'!$E$2:$E$51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'Chart Data'!$F$2:$F$51</c:f>
              <c:numCache>
                <c:formatCode>General</c:formatCode>
                <c:ptCount val="50"/>
                <c:pt idx="0">
                  <c:v>48.64</c:v>
                </c:pt>
                <c:pt idx="1">
                  <c:v>51.04</c:v>
                </c:pt>
                <c:pt idx="2">
                  <c:v>50.98</c:v>
                </c:pt>
                <c:pt idx="3">
                  <c:v>58.68</c:v>
                </c:pt>
                <c:pt idx="4">
                  <c:v>61.26</c:v>
                </c:pt>
                <c:pt idx="5">
                  <c:v>63.32</c:v>
                </c:pt>
                <c:pt idx="6">
                  <c:v>60.04</c:v>
                </c:pt>
                <c:pt idx="7">
                  <c:v>62.42</c:v>
                </c:pt>
                <c:pt idx="8">
                  <c:v>62.92</c:v>
                </c:pt>
                <c:pt idx="9">
                  <c:v>65.02</c:v>
                </c:pt>
                <c:pt idx="10">
                  <c:v>66</c:v>
                </c:pt>
                <c:pt idx="11">
                  <c:v>67.22</c:v>
                </c:pt>
                <c:pt idx="12">
                  <c:v>66.58</c:v>
                </c:pt>
                <c:pt idx="13">
                  <c:v>68.32</c:v>
                </c:pt>
                <c:pt idx="14">
                  <c:v>67.84</c:v>
                </c:pt>
                <c:pt idx="15">
                  <c:v>68.76</c:v>
                </c:pt>
                <c:pt idx="16">
                  <c:v>67.8</c:v>
                </c:pt>
                <c:pt idx="17">
                  <c:v>69.8</c:v>
                </c:pt>
                <c:pt idx="18">
                  <c:v>68.92</c:v>
                </c:pt>
                <c:pt idx="19">
                  <c:v>66.6</c:v>
                </c:pt>
                <c:pt idx="20">
                  <c:v>68.36</c:v>
                </c:pt>
                <c:pt idx="21">
                  <c:v>71.24</c:v>
                </c:pt>
                <c:pt idx="22">
                  <c:v>70.1</c:v>
                </c:pt>
                <c:pt idx="23">
                  <c:v>71.1</c:v>
                </c:pt>
                <c:pt idx="24">
                  <c:v>70.68</c:v>
                </c:pt>
                <c:pt idx="25">
                  <c:v>72.58</c:v>
                </c:pt>
                <c:pt idx="26">
                  <c:v>71.78</c:v>
                </c:pt>
                <c:pt idx="27">
                  <c:v>71.72</c:v>
                </c:pt>
                <c:pt idx="28">
                  <c:v>72.46</c:v>
                </c:pt>
                <c:pt idx="29">
                  <c:v>72.3</c:v>
                </c:pt>
                <c:pt idx="30">
                  <c:v>73.1</c:v>
                </c:pt>
                <c:pt idx="31">
                  <c:v>73.74</c:v>
                </c:pt>
                <c:pt idx="32">
                  <c:v>72.54</c:v>
                </c:pt>
                <c:pt idx="33">
                  <c:v>72.54</c:v>
                </c:pt>
                <c:pt idx="34">
                  <c:v>73.78</c:v>
                </c:pt>
                <c:pt idx="35">
                  <c:v>74.18</c:v>
                </c:pt>
                <c:pt idx="36">
                  <c:v>73.88</c:v>
                </c:pt>
                <c:pt idx="37">
                  <c:v>73.9</c:v>
                </c:pt>
                <c:pt idx="38">
                  <c:v>74.22</c:v>
                </c:pt>
                <c:pt idx="39">
                  <c:v>74.06</c:v>
                </c:pt>
                <c:pt idx="40">
                  <c:v>73.9</c:v>
                </c:pt>
                <c:pt idx="41">
                  <c:v>74.2</c:v>
                </c:pt>
                <c:pt idx="42">
                  <c:v>74.26</c:v>
                </c:pt>
                <c:pt idx="43">
                  <c:v>74.32</c:v>
                </c:pt>
                <c:pt idx="44">
                  <c:v>74.18</c:v>
                </c:pt>
                <c:pt idx="45">
                  <c:v>74.32</c:v>
                </c:pt>
                <c:pt idx="46">
                  <c:v>74.32</c:v>
                </c:pt>
                <c:pt idx="47">
                  <c:v>74.32</c:v>
                </c:pt>
                <c:pt idx="48">
                  <c:v>74.28</c:v>
                </c:pt>
                <c:pt idx="49">
                  <c:v>74.52</c:v>
                </c:pt>
              </c:numCache>
            </c:numRef>
          </c:yVal>
          <c:smooth val="0"/>
        </c:ser>
        <c:ser>
          <c:idx val="3"/>
          <c:order val="3"/>
          <c:tx>
            <c:v>Deformable</c:v>
          </c:tx>
          <c:spPr>
            <a:ln xmlns:a="http://schemas.openxmlformats.org/drawingml/2006/main" w="28575">
              <a:solidFill>
                <a:srgbClr val="E76F51"/>
              </a:solidFill>
              <a:prstDash val="solid"/>
            </a:ln>
          </c:spPr>
          <c:marker>
            <c:symbol val="none"/>
          </c:marker>
          <c:xVal>
            <c:numRef>
              <c:f>'Chart Data'!$G$2:$G$51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'Chart Data'!$H$2:$H$51</c:f>
              <c:numCache>
                <c:formatCode>General</c:formatCode>
                <c:ptCount val="50"/>
                <c:pt idx="0">
                  <c:v>55.72</c:v>
                </c:pt>
                <c:pt idx="1">
                  <c:v>61.4</c:v>
                </c:pt>
                <c:pt idx="2">
                  <c:v>67.22</c:v>
                </c:pt>
                <c:pt idx="3">
                  <c:v>69.26</c:v>
                </c:pt>
                <c:pt idx="4">
                  <c:v>73.64</c:v>
                </c:pt>
                <c:pt idx="5">
                  <c:v>75</c:v>
                </c:pt>
                <c:pt idx="6">
                  <c:v>74.5</c:v>
                </c:pt>
                <c:pt idx="7">
                  <c:v>76.5</c:v>
                </c:pt>
                <c:pt idx="8">
                  <c:v>77.3</c:v>
                </c:pt>
                <c:pt idx="9">
                  <c:v>77.66</c:v>
                </c:pt>
                <c:pt idx="10">
                  <c:v>78.34</c:v>
                </c:pt>
                <c:pt idx="11">
                  <c:v>78.52</c:v>
                </c:pt>
                <c:pt idx="12">
                  <c:v>80.86</c:v>
                </c:pt>
                <c:pt idx="13">
                  <c:v>80.4</c:v>
                </c:pt>
                <c:pt idx="14">
                  <c:v>79.56</c:v>
                </c:pt>
                <c:pt idx="15">
                  <c:v>81.2</c:v>
                </c:pt>
                <c:pt idx="16">
                  <c:v>81.68</c:v>
                </c:pt>
                <c:pt idx="17">
                  <c:v>81.56</c:v>
                </c:pt>
                <c:pt idx="18">
                  <c:v>80.94</c:v>
                </c:pt>
                <c:pt idx="19">
                  <c:v>82.22</c:v>
                </c:pt>
                <c:pt idx="20">
                  <c:v>83.32</c:v>
                </c:pt>
                <c:pt idx="21">
                  <c:v>82.32</c:v>
                </c:pt>
                <c:pt idx="22">
                  <c:v>82.84</c:v>
                </c:pt>
                <c:pt idx="23">
                  <c:v>83.32</c:v>
                </c:pt>
                <c:pt idx="24">
                  <c:v>83.36</c:v>
                </c:pt>
                <c:pt idx="25">
                  <c:v>83.78</c:v>
                </c:pt>
                <c:pt idx="26">
                  <c:v>83.96</c:v>
                </c:pt>
                <c:pt idx="27">
                  <c:v>84.68</c:v>
                </c:pt>
                <c:pt idx="28">
                  <c:v>84.26</c:v>
                </c:pt>
                <c:pt idx="29">
                  <c:v>84.06</c:v>
                </c:pt>
                <c:pt idx="30">
                  <c:v>84.34</c:v>
                </c:pt>
                <c:pt idx="31">
                  <c:v>83.9</c:v>
                </c:pt>
                <c:pt idx="32">
                  <c:v>84.5</c:v>
                </c:pt>
                <c:pt idx="33">
                  <c:v>85.04</c:v>
                </c:pt>
                <c:pt idx="34">
                  <c:v>85.02</c:v>
                </c:pt>
                <c:pt idx="35">
                  <c:v>85.18</c:v>
                </c:pt>
                <c:pt idx="36">
                  <c:v>85.02</c:v>
                </c:pt>
                <c:pt idx="37">
                  <c:v>85.28</c:v>
                </c:pt>
                <c:pt idx="38">
                  <c:v>85.24</c:v>
                </c:pt>
                <c:pt idx="39">
                  <c:v>85.28</c:v>
                </c:pt>
                <c:pt idx="40">
                  <c:v>85.38</c:v>
                </c:pt>
                <c:pt idx="41">
                  <c:v>85.48</c:v>
                </c:pt>
                <c:pt idx="42">
                  <c:v>85.44</c:v>
                </c:pt>
                <c:pt idx="43">
                  <c:v>85.32</c:v>
                </c:pt>
                <c:pt idx="44">
                  <c:v>85.24</c:v>
                </c:pt>
                <c:pt idx="45">
                  <c:v>85.46</c:v>
                </c:pt>
                <c:pt idx="46">
                  <c:v>85.52</c:v>
                </c:pt>
                <c:pt idx="47">
                  <c:v>85.6</c:v>
                </c:pt>
                <c:pt idx="48">
                  <c:v>85.64</c:v>
                </c:pt>
                <c:pt idx="49">
                  <c:v>85.52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00" b="0">
                    <a:solidFill>
                      <a:srgbClr val="596273"/>
                    </a:solidFill>
                    <a:latin typeface="Arial"/>
                    <a:ea typeface="Arial"/>
                    <a:cs typeface="Arial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00" b="0">
                  <a:solidFill>
                    <a:srgbClr val="59627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Between val="midCat"/>
        <c:majorUnit val="10"/>
      </c:valAx>
      <c:valAx>
        <c:axId val="48672768"/>
        <c:scaling>
          <c:orientation val="minMax"/>
          <c:max val="88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00" b="0">
                    <a:solidFill>
                      <a:srgbClr val="596273"/>
                    </a:solidFill>
                    <a:latin typeface="Arial"/>
                    <a:ea typeface="Arial"/>
                    <a:cs typeface="Arial"/>
                  </a:rPr>
                  <a:t>Validation accuracy,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00" b="0">
                  <a:solidFill>
                    <a:srgbClr val="59627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midCat"/>
        <c:majorUnit val="10"/>
      </c:valAx>
      <c:spPr>
        <a:solidFill xmlns:a="http://schemas.openxmlformats.org/drawingml/2006/main">
          <a:srgbClr val="F7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1182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685800" y="914400"/>
            <a:ext cx="1161288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685800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Специальные виды</a:t>
            </a:r>
          </a:p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свёрток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685800" y="3337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>
                <a:solidFill>
                  <a:srgbClr val="D5DFEF"/>
                </a:solidFill>
                <a:latin typeface="Arial"/>
                <a:ea typeface="Arial"/>
                <a:cs typeface="Arial"/>
              </a:rPr>
              <a:t>Dilated, Depthwise и Deformable в классификации CIFAR-10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685800" y="5074920"/>
            <a:ext cx="10817352" cy="18288"/>
          </a:xfrm>
          <a:prstGeom prst="rect">
            <a:avLst/>
          </a:prstGeom>
          <a:solidFill>
            <a:srgbClr val="3240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85800" y="5349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AAB8D0"/>
                </a:solidFill>
                <a:latin typeface="Arial"/>
                <a:ea typeface="Arial"/>
                <a:cs typeface="Arial"/>
              </a:rPr>
              <a:t>Один датасет, одна архитектура, четыре оператора</a:t>
            </a:r>
          </a:p>
        </p:txBody>
      </p:sp>
    </p:spTree>
    <p:extLst>
      <p:ext uri="{BB962C8B-B14F-4D97-AF65-F5344CB8AC3E}">
        <p14:creationId xmlns:p14="http://schemas.microsoft.com/office/powerpoint/2010/main" val="259396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Одна архитектура, четыре оператора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16002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Что меняется при замене обычной свёртки 3×3?</a:t>
            </a:r>
          </a:p>
        </p:txBody>
      </p:sp>
      <p:sp xmlns:a="http://schemas.openxmlformats.org/drawingml/2006/main">
        <p:nvSpPr>
          <p:cNvPr id="6" name="Rounded Rectangle 5"/>
          <p:cNvSpPr/>
          <p:nvPr/>
        </p:nvSpPr>
        <p:spPr>
          <a:xfrm>
            <a:off x="685800" y="2423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3499104" y="2423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 d=2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6312408" y="2423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</a:t>
            </a:r>
          </a:p>
        </p:txBody>
      </p:sp>
      <p:sp xmlns:a="http://schemas.openxmlformats.org/drawingml/2006/main">
        <p:nvSpPr>
          <p:cNvPr id="9" name="Rounded Rectangle 8"/>
          <p:cNvSpPr/>
          <p:nvPr/>
        </p:nvSpPr>
        <p:spPr>
          <a:xfrm>
            <a:off x="9125712" y="2423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BE9E4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85800" y="443484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Сравниваем качество, вычисления и карты признаков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85800" y="498348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Меняется только пространственный оператор в трёх блоках сети</a:t>
            </a:r>
          </a:p>
        </p:txBody>
      </p:sp>
    </p:spTree>
    <p:extLst>
      <p:ext uri="{BB962C8B-B14F-4D97-AF65-F5344CB8AC3E}">
        <p14:creationId xmlns:p14="http://schemas.microsoft.com/office/powerpoint/2010/main" val="1945855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Архитектура модели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 xmlns:a="http://schemas.openxmlformats.org/drawingml/2006/main">
        <p:nvSpPr>
          <p:cNvPr id="5" name="Rounded Rectangle 4"/>
          <p:cNvSpPr/>
          <p:nvPr/>
        </p:nvSpPr>
        <p:spPr>
          <a:xfrm>
            <a:off x="685800" y="2377440"/>
            <a:ext cx="1481328" cy="132588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RGB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3×32×32</a:t>
            </a:r>
          </a:p>
        </p:txBody>
      </p:sp>
      <p:cxnSp xmlns:a="http://schemas.openxmlformats.org/drawingml/2006/main">
        <p:nvCxnSpPr>
          <p:cNvPr id="6" name="Connector 5"/>
          <p:cNvCxnSpPr/>
          <p:nvPr/>
        </p:nvCxnSpPr>
        <p:spPr>
          <a:xfrm>
            <a:off x="2231136" y="3040380"/>
            <a:ext cx="257861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7" name="Rounded Rectangle 6"/>
          <p:cNvSpPr/>
          <p:nvPr/>
        </p:nvSpPr>
        <p:spPr>
          <a:xfrm>
            <a:off x="2553005" y="2377440"/>
            <a:ext cx="14813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Stem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16×32×32</a:t>
            </a:r>
          </a:p>
        </p:txBody>
      </p:sp>
      <p:cxnSp xmlns:a="http://schemas.openxmlformats.org/drawingml/2006/main">
        <p:nvCxnSpPr>
          <p:cNvPr id="8" name="Connector 7"/>
          <p:cNvCxnSpPr/>
          <p:nvPr/>
        </p:nvCxnSpPr>
        <p:spPr>
          <a:xfrm>
            <a:off x="4098341" y="3040380"/>
            <a:ext cx="257861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9" name="Rounded Rectangle 8"/>
          <p:cNvSpPr/>
          <p:nvPr/>
        </p:nvSpPr>
        <p:spPr>
          <a:xfrm>
            <a:off x="4420210" y="2377440"/>
            <a:ext cx="1481328" cy="132588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Special 1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32×16×16</a:t>
            </a:r>
          </a:p>
        </p:txBody>
      </p:sp>
      <p:cxnSp xmlns:a="http://schemas.openxmlformats.org/drawingml/2006/main">
        <p:nvCxnSpPr>
          <p:cNvPr id="10" name="Connector 9"/>
          <p:cNvCxnSpPr/>
          <p:nvPr/>
        </p:nvCxnSpPr>
        <p:spPr>
          <a:xfrm>
            <a:off x="5965546" y="3040380"/>
            <a:ext cx="257860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11" name="Rounded Rectangle 10"/>
          <p:cNvSpPr/>
          <p:nvPr/>
        </p:nvSpPr>
        <p:spPr>
          <a:xfrm>
            <a:off x="6287414" y="2377440"/>
            <a:ext cx="1481328" cy="132588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Special 2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64×8×8</a:t>
            </a:r>
          </a:p>
        </p:txBody>
      </p:sp>
      <p:cxnSp xmlns:a="http://schemas.openxmlformats.org/drawingml/2006/main">
        <p:nvCxnSpPr>
          <p:cNvPr id="12" name="Connector 11"/>
          <p:cNvCxnSpPr/>
          <p:nvPr/>
        </p:nvCxnSpPr>
        <p:spPr>
          <a:xfrm>
            <a:off x="7832750" y="3040380"/>
            <a:ext cx="257861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13" name="Rounded Rectangle 12"/>
          <p:cNvSpPr/>
          <p:nvPr/>
        </p:nvSpPr>
        <p:spPr>
          <a:xfrm>
            <a:off x="8154619" y="2377440"/>
            <a:ext cx="1481328" cy="132588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Special 3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128×4×4</a:t>
            </a:r>
          </a:p>
        </p:txBody>
      </p:sp>
      <p:cxnSp xmlns:a="http://schemas.openxmlformats.org/drawingml/2006/main">
        <p:nvCxnSpPr>
          <p:cNvPr id="14" name="Connector 13"/>
          <p:cNvCxnSpPr/>
          <p:nvPr/>
        </p:nvCxnSpPr>
        <p:spPr>
          <a:xfrm>
            <a:off x="9699955" y="3040380"/>
            <a:ext cx="257861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15" name="Rounded Rectangle 14"/>
          <p:cNvSpPr/>
          <p:nvPr/>
        </p:nvSpPr>
        <p:spPr>
          <a:xfrm>
            <a:off x="10021824" y="2377440"/>
            <a:ext cx="14813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GAP + FC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 классов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685800" y="4343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Stem, pooling и классификатор одинаковы во всех вариантах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685800" y="48920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После каждого специального блока: BatchNorm, ReLU и MaxPool 2×2</a:t>
            </a:r>
          </a:p>
        </p:txBody>
      </p:sp>
    </p:spTree>
    <p:extLst>
      <p:ext uri="{BB962C8B-B14F-4D97-AF65-F5344CB8AC3E}">
        <p14:creationId xmlns:p14="http://schemas.microsoft.com/office/powerpoint/2010/main" val="2144312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и dilated свёртки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875538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 xmlns:a="http://schemas.openxmlformats.org/drawingml/2006/main">
        <p:nvSpPr>
          <p:cNvPr id="6" name="Oval 5"/>
          <p:cNvSpPr/>
          <p:nvPr/>
        </p:nvSpPr>
        <p:spPr>
          <a:xfrm>
            <a:off x="2471166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Oval 6"/>
          <p:cNvSpPr/>
          <p:nvPr/>
        </p:nvSpPr>
        <p:spPr>
          <a:xfrm>
            <a:off x="2891790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Oval 7"/>
          <p:cNvSpPr/>
          <p:nvPr/>
        </p:nvSpPr>
        <p:spPr>
          <a:xfrm>
            <a:off x="3312414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Oval 8"/>
          <p:cNvSpPr/>
          <p:nvPr/>
        </p:nvSpPr>
        <p:spPr>
          <a:xfrm>
            <a:off x="3733038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Oval 9"/>
          <p:cNvSpPr/>
          <p:nvPr/>
        </p:nvSpPr>
        <p:spPr>
          <a:xfrm>
            <a:off x="4153662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Oval 10"/>
          <p:cNvSpPr/>
          <p:nvPr/>
        </p:nvSpPr>
        <p:spPr>
          <a:xfrm>
            <a:off x="2471166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2891790" y="2583180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Oval 12"/>
          <p:cNvSpPr/>
          <p:nvPr/>
        </p:nvSpPr>
        <p:spPr>
          <a:xfrm>
            <a:off x="3312414" y="2583180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Oval 13"/>
          <p:cNvSpPr/>
          <p:nvPr/>
        </p:nvSpPr>
        <p:spPr>
          <a:xfrm>
            <a:off x="3733038" y="2583180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4153662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2471166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2891790" y="3003804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Oval 17"/>
          <p:cNvSpPr/>
          <p:nvPr/>
        </p:nvSpPr>
        <p:spPr>
          <a:xfrm>
            <a:off x="3312414" y="3003804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3733038" y="3003804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Oval 19"/>
          <p:cNvSpPr/>
          <p:nvPr/>
        </p:nvSpPr>
        <p:spPr>
          <a:xfrm>
            <a:off x="4153662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2471166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Oval 21"/>
          <p:cNvSpPr/>
          <p:nvPr/>
        </p:nvSpPr>
        <p:spPr>
          <a:xfrm>
            <a:off x="2891790" y="34244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Oval 22"/>
          <p:cNvSpPr/>
          <p:nvPr/>
        </p:nvSpPr>
        <p:spPr>
          <a:xfrm>
            <a:off x="3312414" y="34244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Oval 23"/>
          <p:cNvSpPr/>
          <p:nvPr/>
        </p:nvSpPr>
        <p:spPr>
          <a:xfrm>
            <a:off x="3733038" y="34244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Oval 24"/>
          <p:cNvSpPr/>
          <p:nvPr/>
        </p:nvSpPr>
        <p:spPr>
          <a:xfrm>
            <a:off x="4153662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Oval 25"/>
          <p:cNvSpPr/>
          <p:nvPr/>
        </p:nvSpPr>
        <p:spPr>
          <a:xfrm>
            <a:off x="2471166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Oval 26"/>
          <p:cNvSpPr/>
          <p:nvPr/>
        </p:nvSpPr>
        <p:spPr>
          <a:xfrm>
            <a:off x="2891790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Oval 27"/>
          <p:cNvSpPr/>
          <p:nvPr/>
        </p:nvSpPr>
        <p:spPr>
          <a:xfrm>
            <a:off x="3312414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Oval 28"/>
          <p:cNvSpPr/>
          <p:nvPr/>
        </p:nvSpPr>
        <p:spPr>
          <a:xfrm>
            <a:off x="3733038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Oval 29"/>
          <p:cNvSpPr/>
          <p:nvPr/>
        </p:nvSpPr>
        <p:spPr>
          <a:xfrm>
            <a:off x="4153662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875538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9 соседних точек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6284214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 3×3, d=2</a:t>
            </a:r>
          </a:p>
        </p:txBody>
      </p:sp>
      <p:sp xmlns:a="http://schemas.openxmlformats.org/drawingml/2006/main">
        <p:nvSpPr>
          <p:cNvPr id="33" name="Oval 32"/>
          <p:cNvSpPr/>
          <p:nvPr/>
        </p:nvSpPr>
        <p:spPr>
          <a:xfrm>
            <a:off x="7879842" y="2162556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Oval 33"/>
          <p:cNvSpPr/>
          <p:nvPr/>
        </p:nvSpPr>
        <p:spPr>
          <a:xfrm>
            <a:off x="8300466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Oval 34"/>
          <p:cNvSpPr/>
          <p:nvPr/>
        </p:nvSpPr>
        <p:spPr>
          <a:xfrm>
            <a:off x="8721090" y="2162556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Oval 35"/>
          <p:cNvSpPr/>
          <p:nvPr/>
        </p:nvSpPr>
        <p:spPr>
          <a:xfrm>
            <a:off x="9141714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Oval 36"/>
          <p:cNvSpPr/>
          <p:nvPr/>
        </p:nvSpPr>
        <p:spPr>
          <a:xfrm>
            <a:off x="9562338" y="2162556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Oval 37"/>
          <p:cNvSpPr/>
          <p:nvPr/>
        </p:nvSpPr>
        <p:spPr>
          <a:xfrm>
            <a:off x="7879842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Oval 38"/>
          <p:cNvSpPr/>
          <p:nvPr/>
        </p:nvSpPr>
        <p:spPr>
          <a:xfrm>
            <a:off x="8300466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Oval 39"/>
          <p:cNvSpPr/>
          <p:nvPr/>
        </p:nvSpPr>
        <p:spPr>
          <a:xfrm>
            <a:off x="8721090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Oval 40"/>
          <p:cNvSpPr/>
          <p:nvPr/>
        </p:nvSpPr>
        <p:spPr>
          <a:xfrm>
            <a:off x="9141714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Oval 41"/>
          <p:cNvSpPr/>
          <p:nvPr/>
        </p:nvSpPr>
        <p:spPr>
          <a:xfrm>
            <a:off x="9562338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Oval 42"/>
          <p:cNvSpPr/>
          <p:nvPr/>
        </p:nvSpPr>
        <p:spPr>
          <a:xfrm>
            <a:off x="7879842" y="3003804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Oval 43"/>
          <p:cNvSpPr/>
          <p:nvPr/>
        </p:nvSpPr>
        <p:spPr>
          <a:xfrm>
            <a:off x="8300466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Oval 44"/>
          <p:cNvSpPr/>
          <p:nvPr/>
        </p:nvSpPr>
        <p:spPr>
          <a:xfrm>
            <a:off x="8721090" y="3003804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Oval 45"/>
          <p:cNvSpPr/>
          <p:nvPr/>
        </p:nvSpPr>
        <p:spPr>
          <a:xfrm>
            <a:off x="9141714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Oval 46"/>
          <p:cNvSpPr/>
          <p:nvPr/>
        </p:nvSpPr>
        <p:spPr>
          <a:xfrm>
            <a:off x="9562338" y="3003804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Oval 47"/>
          <p:cNvSpPr/>
          <p:nvPr/>
        </p:nvSpPr>
        <p:spPr>
          <a:xfrm>
            <a:off x="7879842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Oval 48"/>
          <p:cNvSpPr/>
          <p:nvPr/>
        </p:nvSpPr>
        <p:spPr>
          <a:xfrm>
            <a:off x="8300466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Oval 49"/>
          <p:cNvSpPr/>
          <p:nvPr/>
        </p:nvSpPr>
        <p:spPr>
          <a:xfrm>
            <a:off x="8721090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Oval 50"/>
          <p:cNvSpPr/>
          <p:nvPr/>
        </p:nvSpPr>
        <p:spPr>
          <a:xfrm>
            <a:off x="9141714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Oval 51"/>
          <p:cNvSpPr/>
          <p:nvPr/>
        </p:nvSpPr>
        <p:spPr>
          <a:xfrm>
            <a:off x="9562338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Oval 52"/>
          <p:cNvSpPr/>
          <p:nvPr/>
        </p:nvSpPr>
        <p:spPr>
          <a:xfrm>
            <a:off x="7879842" y="3845052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Oval 53"/>
          <p:cNvSpPr/>
          <p:nvPr/>
        </p:nvSpPr>
        <p:spPr>
          <a:xfrm>
            <a:off x="8300466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Oval 54"/>
          <p:cNvSpPr/>
          <p:nvPr/>
        </p:nvSpPr>
        <p:spPr>
          <a:xfrm>
            <a:off x="8721090" y="3845052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Oval 55"/>
          <p:cNvSpPr/>
          <p:nvPr/>
        </p:nvSpPr>
        <p:spPr>
          <a:xfrm>
            <a:off x="9141714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Oval 56"/>
          <p:cNvSpPr/>
          <p:nvPr/>
        </p:nvSpPr>
        <p:spPr>
          <a:xfrm>
            <a:off x="9562338" y="3845052"/>
            <a:ext cx="155448" cy="1554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TextBox 57"/>
          <p:cNvSpPr txBox="1"/>
          <p:nvPr/>
        </p:nvSpPr>
        <p:spPr>
          <a:xfrm>
            <a:off x="6284214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те же 9 точек в области 5×5</a:t>
            </a:r>
          </a:p>
        </p:txBody>
      </p:sp>
      <p:sp xmlns:a="http://schemas.openxmlformats.org/drawingml/2006/main">
        <p:nvSpPr>
          <p:cNvPr id="59" name="Rectangle 58"/>
          <p:cNvSpPr/>
          <p:nvPr/>
        </p:nvSpPr>
        <p:spPr>
          <a:xfrm>
            <a:off x="685800" y="489204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0" name="TextBox 59"/>
          <p:cNvSpPr txBox="1"/>
          <p:nvPr/>
        </p:nvSpPr>
        <p:spPr>
          <a:xfrm>
            <a:off x="685800" y="516636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Рецептивное поле больше, а число весов то же</a:t>
            </a:r>
          </a:p>
        </p:txBody>
      </p:sp>
    </p:spTree>
    <p:extLst>
      <p:ext uri="{BB962C8B-B14F-4D97-AF65-F5344CB8AC3E}">
        <p14:creationId xmlns:p14="http://schemas.microsoft.com/office/powerpoint/2010/main" val="486078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 + pointwise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 3×3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85800" y="1874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Каждый фильтр видит только свой канал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685800" y="2468880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1188720" y="2468880"/>
            <a:ext cx="713232" cy="713232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1271016" y="2697480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417320" y="2551176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71016" y="2935224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655064" y="2551176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 xmlns:a="http://schemas.openxmlformats.org/drawingml/2006/main">
        <p:nvCxnSpPr>
          <p:cNvPr id="13" name="Connector 12"/>
          <p:cNvCxnSpPr/>
          <p:nvPr/>
        </p:nvCxnSpPr>
        <p:spPr>
          <a:xfrm>
            <a:off x="1975104" y="2825496"/>
            <a:ext cx="493776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14" name="Rounded Rectangle 13"/>
          <p:cNvSpPr/>
          <p:nvPr/>
        </p:nvSpPr>
        <p:spPr>
          <a:xfrm>
            <a:off x="2542032" y="2551176"/>
            <a:ext cx="1234440" cy="548640"/>
          </a:xfrm>
          <a:prstGeom prst="roundRect">
            <a:avLst>
              <a:gd name="adj" fmla="val 13000"/>
            </a:avLst>
          </a:prstGeom>
          <a:solidFill>
            <a:srgbClr val="E7F7F4"/>
          </a:solidFill>
          <a:ln w="9525">
            <a:solidFill>
              <a:srgbClr val="0F9D8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3×3 #1</a:t>
            </a:r>
          </a:p>
        </p:txBody>
      </p:sp>
      <p:cxnSp xmlns:a="http://schemas.openxmlformats.org/drawingml/2006/main">
        <p:nvCxnSpPr>
          <p:cNvPr id="15" name="Connector 14"/>
          <p:cNvCxnSpPr/>
          <p:nvPr/>
        </p:nvCxnSpPr>
        <p:spPr>
          <a:xfrm>
            <a:off x="3849624" y="2825496"/>
            <a:ext cx="493776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16" name="Rounded Rectangle 15"/>
          <p:cNvSpPr/>
          <p:nvPr/>
        </p:nvSpPr>
        <p:spPr>
          <a:xfrm>
            <a:off x="4416552" y="2468880"/>
            <a:ext cx="713232" cy="713232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4498848" y="2697480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4645152" y="2551176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4498848" y="2935224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4882896" y="2551176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5239512" y="2468880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685800" y="3310128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 xmlns:a="http://schemas.openxmlformats.org/drawingml/2006/main">
        <p:nvSpPr>
          <p:cNvPr id="23" name="Rounded Rectangle 22"/>
          <p:cNvSpPr/>
          <p:nvPr/>
        </p:nvSpPr>
        <p:spPr>
          <a:xfrm>
            <a:off x="1188720" y="3310128"/>
            <a:ext cx="713232" cy="713232"/>
          </a:xfrm>
          <a:prstGeom prst="roundRect">
            <a:avLst>
              <a:gd name="adj" fmla="val 10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71016" y="3538728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417320" y="3392424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71016" y="3776472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655064" y="3392424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 xmlns:a="http://schemas.openxmlformats.org/drawingml/2006/main">
        <p:nvCxnSpPr>
          <p:cNvPr id="28" name="Connector 27"/>
          <p:cNvCxnSpPr/>
          <p:nvPr/>
        </p:nvCxnSpPr>
        <p:spPr>
          <a:xfrm>
            <a:off x="1975104" y="3666744"/>
            <a:ext cx="493776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29" name="Rounded Rectangle 28"/>
          <p:cNvSpPr/>
          <p:nvPr/>
        </p:nvSpPr>
        <p:spPr>
          <a:xfrm>
            <a:off x="2542032" y="3392424"/>
            <a:ext cx="1234440" cy="548640"/>
          </a:xfrm>
          <a:prstGeom prst="roundRect">
            <a:avLst>
              <a:gd name="adj" fmla="val 13000"/>
            </a:avLst>
          </a:prstGeom>
          <a:solidFill>
            <a:srgbClr val="E7F7F4"/>
          </a:solidFill>
          <a:ln w="9525">
            <a:solidFill>
              <a:srgbClr val="0F9D8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3×3 #2</a:t>
            </a:r>
          </a:p>
        </p:txBody>
      </p:sp>
      <p:cxnSp xmlns:a="http://schemas.openxmlformats.org/drawingml/2006/main">
        <p:nvCxnSpPr>
          <p:cNvPr id="30" name="Connector 29"/>
          <p:cNvCxnSpPr/>
          <p:nvPr/>
        </p:nvCxnSpPr>
        <p:spPr>
          <a:xfrm>
            <a:off x="3849624" y="3666744"/>
            <a:ext cx="493776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31" name="Rounded Rectangle 30"/>
          <p:cNvSpPr/>
          <p:nvPr/>
        </p:nvSpPr>
        <p:spPr>
          <a:xfrm>
            <a:off x="4416552" y="3310128"/>
            <a:ext cx="713232" cy="713232"/>
          </a:xfrm>
          <a:prstGeom prst="roundRect">
            <a:avLst>
              <a:gd name="adj" fmla="val 10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4498848" y="3538728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4645152" y="3392424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4498848" y="3776472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4882896" y="3392424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5239512" y="3310128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685800" y="4151376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 xmlns:a="http://schemas.openxmlformats.org/drawingml/2006/main">
        <p:nvSpPr>
          <p:cNvPr id="38" name="Rounded Rectangle 37"/>
          <p:cNvSpPr/>
          <p:nvPr/>
        </p:nvSpPr>
        <p:spPr>
          <a:xfrm>
            <a:off x="1188720" y="4151376"/>
            <a:ext cx="713232" cy="713232"/>
          </a:xfrm>
          <a:prstGeom prst="roundRect">
            <a:avLst>
              <a:gd name="adj" fmla="val 10000"/>
            </a:avLst>
          </a:prstGeom>
          <a:solidFill>
            <a:srgbClr val="E7F7F4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71016" y="4379976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417320" y="4233672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71016" y="4617720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1655064" y="4233672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 xmlns:a="http://schemas.openxmlformats.org/drawingml/2006/main">
        <p:nvCxnSpPr>
          <p:cNvPr id="43" name="Connector 42"/>
          <p:cNvCxnSpPr/>
          <p:nvPr/>
        </p:nvCxnSpPr>
        <p:spPr>
          <a:xfrm>
            <a:off x="1975104" y="4507992"/>
            <a:ext cx="493776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44" name="Rounded Rectangle 43"/>
          <p:cNvSpPr/>
          <p:nvPr/>
        </p:nvSpPr>
        <p:spPr>
          <a:xfrm>
            <a:off x="2542032" y="4233672"/>
            <a:ext cx="1234440" cy="548640"/>
          </a:xfrm>
          <a:prstGeom prst="roundRect">
            <a:avLst>
              <a:gd name="adj" fmla="val 13000"/>
            </a:avLst>
          </a:prstGeom>
          <a:solidFill>
            <a:srgbClr val="E7F7F4"/>
          </a:solidFill>
          <a:ln w="9525">
            <a:solidFill>
              <a:srgbClr val="0F9D8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3×3 #3</a:t>
            </a:r>
          </a:p>
        </p:txBody>
      </p:sp>
      <p:cxnSp xmlns:a="http://schemas.openxmlformats.org/drawingml/2006/main">
        <p:nvCxnSpPr>
          <p:cNvPr id="45" name="Connector 44"/>
          <p:cNvCxnSpPr/>
          <p:nvPr/>
        </p:nvCxnSpPr>
        <p:spPr>
          <a:xfrm>
            <a:off x="3849624" y="4507992"/>
            <a:ext cx="493776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46" name="Rounded Rectangle 45"/>
          <p:cNvSpPr/>
          <p:nvPr/>
        </p:nvSpPr>
        <p:spPr>
          <a:xfrm>
            <a:off x="4416552" y="4151376"/>
            <a:ext cx="713232" cy="713232"/>
          </a:xfrm>
          <a:prstGeom prst="roundRect">
            <a:avLst>
              <a:gd name="adj" fmla="val 10000"/>
            </a:avLst>
          </a:prstGeom>
          <a:solidFill>
            <a:srgbClr val="E7F7F4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4498848" y="4379976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4645152" y="4233672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4498848" y="4617720"/>
            <a:ext cx="5486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4882896" y="4233672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5239512" y="4151376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685800" y="4983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Ни один фильтр не смешивает C1, C2 и C3</a:t>
            </a:r>
          </a:p>
        </p:txBody>
      </p:sp>
      <p:sp xmlns:a="http://schemas.openxmlformats.org/drawingml/2006/main">
        <p:nvSpPr>
          <p:cNvPr id="53" name="Rectangle 52"/>
          <p:cNvSpPr/>
          <p:nvPr/>
        </p:nvSpPr>
        <p:spPr>
          <a:xfrm>
            <a:off x="6089904" y="1463040"/>
            <a:ext cx="18288" cy="3886200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TextBox 53"/>
          <p:cNvSpPr txBox="1"/>
          <p:nvPr/>
        </p:nvSpPr>
        <p:spPr>
          <a:xfrm>
            <a:off x="6492240" y="1417320"/>
            <a:ext cx="501091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Pointwise 1×1</a:t>
            </a:r>
          </a:p>
        </p:txBody>
      </p:sp>
      <p:sp xmlns:a="http://schemas.openxmlformats.org/drawingml/2006/main">
        <p:nvSpPr>
          <p:cNvPr id="55" name="TextBox 54"/>
          <p:cNvSpPr txBox="1"/>
          <p:nvPr/>
        </p:nvSpPr>
        <p:spPr>
          <a:xfrm>
            <a:off x="6492240" y="1874520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В позиции (i, j) берёт все каналы</a:t>
            </a:r>
          </a:p>
        </p:txBody>
      </p:sp>
      <p:sp xmlns:a="http://schemas.openxmlformats.org/drawingml/2006/main">
        <p:nvSpPr>
          <p:cNvPr id="56" name="TextBox 55"/>
          <p:cNvSpPr txBox="1"/>
          <p:nvPr/>
        </p:nvSpPr>
        <p:spPr>
          <a:xfrm>
            <a:off x="6492240" y="237744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 xmlns:a="http://schemas.openxmlformats.org/drawingml/2006/main">
        <p:nvSpPr>
          <p:cNvPr id="57" name="TextBox 56"/>
          <p:cNvSpPr txBox="1"/>
          <p:nvPr/>
        </p:nvSpPr>
        <p:spPr>
          <a:xfrm>
            <a:off x="10177272" y="237744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выход</a:t>
            </a:r>
          </a:p>
        </p:txBody>
      </p:sp>
      <p:sp xmlns:a="http://schemas.openxmlformats.org/drawingml/2006/main">
        <p:nvSpPr>
          <p:cNvPr id="58" name="Rounded Rectangle 57"/>
          <p:cNvSpPr/>
          <p:nvPr/>
        </p:nvSpPr>
        <p:spPr>
          <a:xfrm>
            <a:off x="6492240" y="2788920"/>
            <a:ext cx="1325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Rounded Rectangle 58"/>
          <p:cNvSpPr/>
          <p:nvPr/>
        </p:nvSpPr>
        <p:spPr>
          <a:xfrm>
            <a:off x="6620256" y="2971800"/>
            <a:ext cx="1069848" cy="384048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C1(i,j)</a:t>
            </a:r>
          </a:p>
        </p:txBody>
      </p:sp>
      <p:sp xmlns:a="http://schemas.openxmlformats.org/drawingml/2006/main">
        <p:nvSpPr>
          <p:cNvPr id="60" name="Rounded Rectangle 59"/>
          <p:cNvSpPr/>
          <p:nvPr/>
        </p:nvSpPr>
        <p:spPr>
          <a:xfrm>
            <a:off x="6620256" y="3557016"/>
            <a:ext cx="1069848" cy="384048"/>
          </a:xfrm>
          <a:prstGeom prst="roundRect">
            <a:avLst>
              <a:gd name="adj" fmla="val 15000"/>
            </a:avLst>
          </a:prstGeom>
          <a:solidFill>
            <a:srgbClr val="F0EAFE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C2(i,j)</a:t>
            </a:r>
          </a:p>
        </p:txBody>
      </p:sp>
      <p:sp xmlns:a="http://schemas.openxmlformats.org/drawingml/2006/main">
        <p:nvSpPr>
          <p:cNvPr id="61" name="Rounded Rectangle 60"/>
          <p:cNvSpPr/>
          <p:nvPr/>
        </p:nvSpPr>
        <p:spPr>
          <a:xfrm>
            <a:off x="6620256" y="4142232"/>
            <a:ext cx="1069848" cy="384048"/>
          </a:xfrm>
          <a:prstGeom prst="roundRect">
            <a:avLst>
              <a:gd name="adj" fmla="val 15000"/>
            </a:avLst>
          </a:prstGeom>
          <a:solidFill>
            <a:srgbClr val="E7F7F4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C3(i,j)</a:t>
            </a:r>
          </a:p>
        </p:txBody>
      </p:sp>
      <p:cxnSp xmlns:a="http://schemas.openxmlformats.org/drawingml/2006/main">
        <p:nvCxnSpPr>
          <p:cNvPr id="62" name="Connector 61"/>
          <p:cNvCxnSpPr/>
          <p:nvPr/>
        </p:nvCxnSpPr>
        <p:spPr>
          <a:xfrm>
            <a:off x="7882128" y="3749040"/>
            <a:ext cx="320040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63" name="Rounded Rectangle 62"/>
          <p:cNvSpPr/>
          <p:nvPr/>
        </p:nvSpPr>
        <p:spPr>
          <a:xfrm>
            <a:off x="8266176" y="2788920"/>
            <a:ext cx="1463040" cy="192024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9525">
            <a:solidFill>
              <a:srgbClr val="7C3AED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1×1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Cout разных фильтров</a:t>
            </a:r>
          </a:p>
        </p:txBody>
      </p:sp>
      <p:cxnSp xmlns:a="http://schemas.openxmlformats.org/drawingml/2006/main">
        <p:nvCxnSpPr>
          <p:cNvPr id="64" name="Connector 63"/>
          <p:cNvCxnSpPr/>
          <p:nvPr/>
        </p:nvCxnSpPr>
        <p:spPr>
          <a:xfrm>
            <a:off x="9793224" y="3749040"/>
            <a:ext cx="320040" cy="0"/>
          </a:xfrm>
          <a:prstGeom prst="line">
            <a:avLst/>
          </a:prstGeom>
          <a:ln w="22225">
            <a:solidFill>
              <a:srgbClr val="596273"/>
            </a:solidFill>
            <a:tailEnd type="triangle" w="med" len="med"/>
          </a:ln>
        </p:spPr>
      </p:cxnSp>
      <p:sp xmlns:a="http://schemas.openxmlformats.org/drawingml/2006/main">
        <p:nvSpPr>
          <p:cNvPr id="65" name="Rounded Rectangle 64"/>
          <p:cNvSpPr/>
          <p:nvPr/>
        </p:nvSpPr>
        <p:spPr>
          <a:xfrm>
            <a:off x="10177272" y="2788920"/>
            <a:ext cx="1325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O1(i,j)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O2(i,j)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…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OCout(i,j)</a:t>
            </a:r>
          </a:p>
        </p:txBody>
      </p:sp>
      <p:sp xmlns:a="http://schemas.openxmlformats.org/drawingml/2006/main">
        <p:nvSpPr>
          <p:cNvPr id="66" name="TextBox 65"/>
          <p:cNvSpPr txBox="1"/>
          <p:nvPr/>
        </p:nvSpPr>
        <p:spPr>
          <a:xfrm>
            <a:off x="6492240" y="4983480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Соседние пиксели здесь не участвуют</a:t>
            </a:r>
          </a:p>
        </p:txBody>
      </p:sp>
      <p:sp xmlns:a="http://schemas.openxmlformats.org/drawingml/2006/main">
        <p:nvSpPr>
          <p:cNvPr id="67" name="TextBox 66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Depthwise: работа в пространстве. Pointwise: смешивание каналов</a:t>
            </a:r>
          </a:p>
        </p:txBody>
      </p:sp>
    </p:spTree>
    <p:extLst>
      <p:ext uri="{BB962C8B-B14F-4D97-AF65-F5344CB8AC3E}">
        <p14:creationId xmlns:p14="http://schemas.microsoft.com/office/powerpoint/2010/main" val="2121388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 convolution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875538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сетка 3×3</a:t>
            </a:r>
          </a:p>
        </p:txBody>
      </p:sp>
      <p:sp xmlns:a="http://schemas.openxmlformats.org/drawingml/2006/main">
        <p:nvSpPr>
          <p:cNvPr id="6" name="Oval 5"/>
          <p:cNvSpPr/>
          <p:nvPr/>
        </p:nvSpPr>
        <p:spPr>
          <a:xfrm>
            <a:off x="2471166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Oval 6"/>
          <p:cNvSpPr/>
          <p:nvPr/>
        </p:nvSpPr>
        <p:spPr>
          <a:xfrm>
            <a:off x="2891790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Oval 7"/>
          <p:cNvSpPr/>
          <p:nvPr/>
        </p:nvSpPr>
        <p:spPr>
          <a:xfrm>
            <a:off x="3312414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Oval 8"/>
          <p:cNvSpPr/>
          <p:nvPr/>
        </p:nvSpPr>
        <p:spPr>
          <a:xfrm>
            <a:off x="3733038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Oval 9"/>
          <p:cNvSpPr/>
          <p:nvPr/>
        </p:nvSpPr>
        <p:spPr>
          <a:xfrm>
            <a:off x="4153662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Oval 10"/>
          <p:cNvSpPr/>
          <p:nvPr/>
        </p:nvSpPr>
        <p:spPr>
          <a:xfrm>
            <a:off x="2471166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2891790" y="2583180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Oval 12"/>
          <p:cNvSpPr/>
          <p:nvPr/>
        </p:nvSpPr>
        <p:spPr>
          <a:xfrm>
            <a:off x="3312414" y="2583180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Oval 13"/>
          <p:cNvSpPr/>
          <p:nvPr/>
        </p:nvSpPr>
        <p:spPr>
          <a:xfrm>
            <a:off x="3733038" y="2583180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4153662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2471166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2891790" y="3003804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Oval 17"/>
          <p:cNvSpPr/>
          <p:nvPr/>
        </p:nvSpPr>
        <p:spPr>
          <a:xfrm>
            <a:off x="3312414" y="3003804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3733038" y="3003804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Oval 19"/>
          <p:cNvSpPr/>
          <p:nvPr/>
        </p:nvSpPr>
        <p:spPr>
          <a:xfrm>
            <a:off x="4153662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2471166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Oval 21"/>
          <p:cNvSpPr/>
          <p:nvPr/>
        </p:nvSpPr>
        <p:spPr>
          <a:xfrm>
            <a:off x="2891790" y="34244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Oval 22"/>
          <p:cNvSpPr/>
          <p:nvPr/>
        </p:nvSpPr>
        <p:spPr>
          <a:xfrm>
            <a:off x="3312414" y="34244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Oval 23"/>
          <p:cNvSpPr/>
          <p:nvPr/>
        </p:nvSpPr>
        <p:spPr>
          <a:xfrm>
            <a:off x="3733038" y="34244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Oval 24"/>
          <p:cNvSpPr/>
          <p:nvPr/>
        </p:nvSpPr>
        <p:spPr>
          <a:xfrm>
            <a:off x="4153662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Oval 25"/>
          <p:cNvSpPr/>
          <p:nvPr/>
        </p:nvSpPr>
        <p:spPr>
          <a:xfrm>
            <a:off x="2471166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Oval 26"/>
          <p:cNvSpPr/>
          <p:nvPr/>
        </p:nvSpPr>
        <p:spPr>
          <a:xfrm>
            <a:off x="2891790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Oval 27"/>
          <p:cNvSpPr/>
          <p:nvPr/>
        </p:nvSpPr>
        <p:spPr>
          <a:xfrm>
            <a:off x="3312414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Oval 28"/>
          <p:cNvSpPr/>
          <p:nvPr/>
        </p:nvSpPr>
        <p:spPr>
          <a:xfrm>
            <a:off x="3733038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Oval 29"/>
          <p:cNvSpPr/>
          <p:nvPr/>
        </p:nvSpPr>
        <p:spPr>
          <a:xfrm>
            <a:off x="4153662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6284214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offsets</a:t>
            </a:r>
          </a:p>
        </p:txBody>
      </p:sp>
      <p:sp xmlns:a="http://schemas.openxmlformats.org/drawingml/2006/main">
        <p:nvSpPr>
          <p:cNvPr id="32" name="Oval 31"/>
          <p:cNvSpPr/>
          <p:nvPr/>
        </p:nvSpPr>
        <p:spPr>
          <a:xfrm>
            <a:off x="7879842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Oval 32"/>
          <p:cNvSpPr/>
          <p:nvPr/>
        </p:nvSpPr>
        <p:spPr>
          <a:xfrm>
            <a:off x="8300466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Oval 33"/>
          <p:cNvSpPr/>
          <p:nvPr/>
        </p:nvSpPr>
        <p:spPr>
          <a:xfrm>
            <a:off x="8721090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Oval 34"/>
          <p:cNvSpPr/>
          <p:nvPr/>
        </p:nvSpPr>
        <p:spPr>
          <a:xfrm>
            <a:off x="9141714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Oval 35"/>
          <p:cNvSpPr/>
          <p:nvPr/>
        </p:nvSpPr>
        <p:spPr>
          <a:xfrm>
            <a:off x="9562338" y="2162556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Oval 36"/>
          <p:cNvSpPr/>
          <p:nvPr/>
        </p:nvSpPr>
        <p:spPr>
          <a:xfrm>
            <a:off x="7879842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Oval 37"/>
          <p:cNvSpPr/>
          <p:nvPr/>
        </p:nvSpPr>
        <p:spPr>
          <a:xfrm>
            <a:off x="8300466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Oval 38"/>
          <p:cNvSpPr/>
          <p:nvPr/>
        </p:nvSpPr>
        <p:spPr>
          <a:xfrm>
            <a:off x="8721090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Oval 39"/>
          <p:cNvSpPr/>
          <p:nvPr/>
        </p:nvSpPr>
        <p:spPr>
          <a:xfrm>
            <a:off x="9141714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Oval 40"/>
          <p:cNvSpPr/>
          <p:nvPr/>
        </p:nvSpPr>
        <p:spPr>
          <a:xfrm>
            <a:off x="9562338" y="2583180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Oval 41"/>
          <p:cNvSpPr/>
          <p:nvPr/>
        </p:nvSpPr>
        <p:spPr>
          <a:xfrm>
            <a:off x="7879842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Oval 42"/>
          <p:cNvSpPr/>
          <p:nvPr/>
        </p:nvSpPr>
        <p:spPr>
          <a:xfrm>
            <a:off x="8300466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Oval 43"/>
          <p:cNvSpPr/>
          <p:nvPr/>
        </p:nvSpPr>
        <p:spPr>
          <a:xfrm>
            <a:off x="8721090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Oval 44"/>
          <p:cNvSpPr/>
          <p:nvPr/>
        </p:nvSpPr>
        <p:spPr>
          <a:xfrm>
            <a:off x="9141714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Oval 45"/>
          <p:cNvSpPr/>
          <p:nvPr/>
        </p:nvSpPr>
        <p:spPr>
          <a:xfrm>
            <a:off x="9562338" y="3003804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Oval 46"/>
          <p:cNvSpPr/>
          <p:nvPr/>
        </p:nvSpPr>
        <p:spPr>
          <a:xfrm>
            <a:off x="7879842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Oval 47"/>
          <p:cNvSpPr/>
          <p:nvPr/>
        </p:nvSpPr>
        <p:spPr>
          <a:xfrm>
            <a:off x="8300466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Oval 48"/>
          <p:cNvSpPr/>
          <p:nvPr/>
        </p:nvSpPr>
        <p:spPr>
          <a:xfrm>
            <a:off x="8721090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Oval 49"/>
          <p:cNvSpPr/>
          <p:nvPr/>
        </p:nvSpPr>
        <p:spPr>
          <a:xfrm>
            <a:off x="9141714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Oval 50"/>
          <p:cNvSpPr/>
          <p:nvPr/>
        </p:nvSpPr>
        <p:spPr>
          <a:xfrm>
            <a:off x="9562338" y="3424428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Oval 51"/>
          <p:cNvSpPr/>
          <p:nvPr/>
        </p:nvSpPr>
        <p:spPr>
          <a:xfrm>
            <a:off x="7879842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Oval 52"/>
          <p:cNvSpPr/>
          <p:nvPr/>
        </p:nvSpPr>
        <p:spPr>
          <a:xfrm>
            <a:off x="8300466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Oval 53"/>
          <p:cNvSpPr/>
          <p:nvPr/>
        </p:nvSpPr>
        <p:spPr>
          <a:xfrm>
            <a:off x="8721090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Oval 54"/>
          <p:cNvSpPr/>
          <p:nvPr/>
        </p:nvSpPr>
        <p:spPr>
          <a:xfrm>
            <a:off x="9141714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Oval 55"/>
          <p:cNvSpPr/>
          <p:nvPr/>
        </p:nvSpPr>
        <p:spPr>
          <a:xfrm>
            <a:off x="9562338" y="3845052"/>
            <a:ext cx="155448" cy="155448"/>
          </a:xfrm>
          <a:prstGeom prst="ellipse">
            <a:avLst/>
          </a:prstGeom>
          <a:solidFill>
            <a:srgbClr val="CDD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Oval 56"/>
          <p:cNvSpPr/>
          <p:nvPr/>
        </p:nvSpPr>
        <p:spPr>
          <a:xfrm>
            <a:off x="8209940" y="2659642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Oval 57"/>
          <p:cNvSpPr/>
          <p:nvPr/>
        </p:nvSpPr>
        <p:spPr>
          <a:xfrm>
            <a:off x="8671365" y="2450171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Oval 58"/>
          <p:cNvSpPr/>
          <p:nvPr/>
        </p:nvSpPr>
        <p:spPr>
          <a:xfrm>
            <a:off x="9219017" y="2618421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0" name="Oval 59"/>
          <p:cNvSpPr/>
          <p:nvPr/>
        </p:nvSpPr>
        <p:spPr>
          <a:xfrm>
            <a:off x="8293224" y="3163970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1" name="Oval 60"/>
          <p:cNvSpPr/>
          <p:nvPr/>
        </p:nvSpPr>
        <p:spPr>
          <a:xfrm>
            <a:off x="8797552" y="2995721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2" name="Oval 61"/>
          <p:cNvSpPr/>
          <p:nvPr/>
        </p:nvSpPr>
        <p:spPr>
          <a:xfrm>
            <a:off x="9345205" y="3290578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3" name="Oval 62"/>
          <p:cNvSpPr/>
          <p:nvPr/>
        </p:nvSpPr>
        <p:spPr>
          <a:xfrm>
            <a:off x="8167457" y="3669981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4" name="Oval 63"/>
          <p:cNvSpPr/>
          <p:nvPr/>
        </p:nvSpPr>
        <p:spPr>
          <a:xfrm>
            <a:off x="8755069" y="3501731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5" name="Oval 64"/>
          <p:cNvSpPr/>
          <p:nvPr/>
        </p:nvSpPr>
        <p:spPr>
          <a:xfrm>
            <a:off x="9260239" y="3753685"/>
            <a:ext cx="210312" cy="21031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6" name="TextBox 65"/>
          <p:cNvSpPr txBox="1"/>
          <p:nvPr/>
        </p:nvSpPr>
        <p:spPr>
          <a:xfrm>
            <a:off x="685800" y="4343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Offset predictor выдаёт 18 чисел для ядра 3×3</a:t>
            </a:r>
          </a:p>
        </p:txBody>
      </p:sp>
      <p:sp xmlns:a="http://schemas.openxmlformats.org/drawingml/2006/main">
        <p:nvSpPr>
          <p:cNvPr id="67" name="TextBox 66"/>
          <p:cNvSpPr txBox="1"/>
          <p:nvPr/>
        </p:nvSpPr>
        <p:spPr>
          <a:xfrm>
            <a:off x="685800" y="484632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9 пар координат (Δy, Δx) сдвигают точки выборки</a:t>
            </a:r>
          </a:p>
        </p:txBody>
      </p:sp>
      <p:sp xmlns:a="http://schemas.openxmlformats.org/drawingml/2006/main">
        <p:nvSpPr>
          <p:cNvPr id="68" name="TextBox 67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Дробные координаты: билинейная интерполяция</a:t>
            </a:r>
          </a:p>
        </p:txBody>
      </p:sp>
    </p:spTree>
    <p:extLst>
      <p:ext uri="{BB962C8B-B14F-4D97-AF65-F5344CB8AC3E}">
        <p14:creationId xmlns:p14="http://schemas.microsoft.com/office/powerpoint/2010/main" val="46698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71816-F6BB-4599-84AE-57806D9AC2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8b7c511fd42b5"/>
          <a:stretch xmlns:a="http://schemas.openxmlformats.org/drawingml/2006/main"/>
        </p:blipFill>
        <p:spPr>
          <a:xfrm xmlns:a="http://schemas.openxmlformats.org/drawingml/2006/main">
            <a:off x="685800" y="1463040"/>
            <a:ext cx="10817352" cy="2635902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вход, одинаковые веса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685800" y="443484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Во всех пространственных ядрах: 9 коэффициентов по 1/9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685800" y="50292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Depthwise: один входной канал, поэтому после 1×1 результат как у обычной 3×3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85800" y="54864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Deformable: фиксированная деформированная сетка, только для 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1932282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Протокол сравнения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 xmlns:a="http://schemas.openxmlformats.org/drawingml/2006/main">
        <p:nvSpPr>
          <p:cNvPr id="5" name="Rounded Rectangle 4"/>
          <p:cNvSpPr/>
          <p:nvPr/>
        </p:nvSpPr>
        <p:spPr>
          <a:xfrm>
            <a:off x="685800" y="1737360"/>
            <a:ext cx="2377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45k/5k/10k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 xmlns:a="http://schemas.openxmlformats.org/drawingml/2006/main">
        <p:nvSpPr>
          <p:cNvPr id="6" name="Rounded Rectangle 5"/>
          <p:cNvSpPr/>
          <p:nvPr/>
        </p:nvSpPr>
        <p:spPr>
          <a:xfrm>
            <a:off x="3499104" y="1737360"/>
            <a:ext cx="2377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эпох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6312408" y="1737360"/>
            <a:ext cx="2377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42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9125712" y="1737360"/>
            <a:ext cx="2377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8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AdamW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оптимизатор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685800" y="384048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Одинаковые аугментации, batch size, schedule и порядок данных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85800" y="443484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 — по validation accuracy, test — один раз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85800" y="51206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Один seed на вариант: доверительный интервал не оценивался</a:t>
            </a:r>
          </a:p>
        </p:txBody>
      </p:sp>
    </p:spTree>
    <p:extLst>
      <p:ext uri="{BB962C8B-B14F-4D97-AF65-F5344CB8AC3E}">
        <p14:creationId xmlns:p14="http://schemas.microsoft.com/office/powerpoint/2010/main" val="1174805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6D5E08B-5D3C-4845-A176-B6F267AB61AA}"/>
              </a:ext>
            </a:extLst>
          </p:cNvPr>
          <p:cNvGraphicFramePr/>
          <p:nvPr/>
        </p:nvGraphicFramePr>
        <p:xfrm>
          <a:off xmlns:a="http://schemas.openxmlformats.org/drawingml/2006/main" x="640080" y="1874520"/>
          <a:ext xmlns:a="http://schemas.openxmlformats.org/drawingml/2006/main" cx="5257800" cy="33375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cebab8c93948dd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D382AB7-15DF-4476-8E9A-7682B7636894}"/>
              </a:ext>
            </a:extLst>
          </p:cNvPr>
          <p:cNvGraphicFramePr/>
          <p:nvPr/>
        </p:nvGraphicFramePr>
        <p:xfrm>
          <a:off xmlns:a="http://schemas.openxmlformats.org/drawingml/2006/main" x="6245352" y="1874520"/>
          <a:ext xmlns:a="http://schemas.openxmlformats.org/drawingml/2006/main" cx="5257800" cy="33375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b25d1b019e4a78"/>
          </a:graphicData>
        </a:graphic>
      </p:graphicFrame>
      <p:sp xmlns:a="http://schemas.openxmlformats.org/drawingml/2006/main">
        <p:nvSpPr>
          <p:cNvPr id="8" name="TextBox 7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Параметры и MACs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85800" y="14173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Параметры, тыс.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6291072" y="14173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MACs, млн на изображение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685800" y="539496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Depthwise: меньше параметров и MACs. Deformable: + offset predictor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85800" y="585216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MACs для deformable не включают билинейную интерполяцию и адресацию памяти</a:t>
            </a:r>
          </a:p>
        </p:txBody>
      </p:sp>
    </p:spTree>
    <p:extLst>
      <p:ext uri="{BB962C8B-B14F-4D97-AF65-F5344CB8AC3E}">
        <p14:creationId xmlns:p14="http://schemas.microsoft.com/office/powerpoint/2010/main" val="54581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4BAF85D-C05A-485B-97C8-C0C5B760C246}"/>
              </a:ext>
            </a:extLst>
          </p:cNvPr>
          <p:cNvGraphicFramePr/>
          <p:nvPr/>
        </p:nvGraphicFramePr>
        <p:xfrm>
          <a:off xmlns:a="http://schemas.openxmlformats.org/drawingml/2006/main" x="594360" y="1417320"/>
          <a:ext xmlns:a="http://schemas.openxmlformats.org/drawingml/2006/main" cx="7863840" cy="42976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0f5b32391c4311"/>
          </a:graphicData>
        </a:graphic>
      </p:graphicFrame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Качество на test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641080" y="2011680"/>
            <a:ext cx="2862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85,06%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641080" y="2971800"/>
            <a:ext cx="28620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8641080" y="352044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+1,37 п.п. к обычной 3×3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85800" y="589788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Результат одного запуска, без проверки статистической значимости</a:t>
            </a:r>
          </a:p>
        </p:txBody>
      </p:sp>
    </p:spTree>
    <p:extLst>
      <p:ext uri="{BB962C8B-B14F-4D97-AF65-F5344CB8AC3E}">
        <p14:creationId xmlns:p14="http://schemas.microsoft.com/office/powerpoint/2010/main" val="1994520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CC0AD0C-C66D-4458-B423-4E4BB188D286}"/>
              </a:ext>
            </a:extLst>
          </p:cNvPr>
          <p:cNvGraphicFramePr/>
          <p:nvPr/>
        </p:nvGraphicFramePr>
        <p:xfrm>
          <a:off xmlns:a="http://schemas.openxmlformats.org/drawingml/2006/main" x="594360" y="1371600"/>
          <a:ext xmlns:a="http://schemas.openxmlformats.org/drawingml/2006/main" cx="8001000" cy="4251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d1ace0fe7e43ca"/>
          </a:graphicData>
        </a:graphic>
      </p:graphicFrame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Динамика обучения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869680" y="1920240"/>
            <a:ext cx="2633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Каждая линия: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запуск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869680" y="2880360"/>
            <a:ext cx="263347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Доверительный интервал требует нескольких независимых seed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Кривые нужны, чтобы показать сходимость, а не оценить разброс</a:t>
            </a:r>
          </a:p>
        </p:txBody>
      </p:sp>
    </p:spTree>
    <p:extLst>
      <p:ext uri="{BB962C8B-B14F-4D97-AF65-F5344CB8AC3E}">
        <p14:creationId xmlns:p14="http://schemas.microsoft.com/office/powerpoint/2010/main" val="20627937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B92D0-FA41-43E4-95C9-4F29F699A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a26dabfcf47fe"/>
          <a:stretch xmlns:a="http://schemas.openxmlformats.org/drawingml/2006/main"/>
        </p:blipFill>
        <p:spPr>
          <a:xfrm xmlns:a="http://schemas.openxmlformats.org/drawingml/2006/main">
            <a:off x="7262622" y="1417320"/>
            <a:ext cx="4240530" cy="484632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Карты признаков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685800" y="2377440"/>
            <a:ext cx="621106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вход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685800" y="2880360"/>
            <a:ext cx="621106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Средняя абсолютная активация по каналам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85800" y="3977640"/>
            <a:ext cx="621106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Stage 1 и stage 3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85800" y="4480560"/>
            <a:ext cx="621106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Сравниваем структуру, а не яркость между панелями</a:t>
            </a:r>
          </a:p>
        </p:txBody>
      </p:sp>
    </p:spTree>
    <p:extLst>
      <p:ext uri="{BB962C8B-B14F-4D97-AF65-F5344CB8AC3E}">
        <p14:creationId xmlns:p14="http://schemas.microsoft.com/office/powerpoint/2010/main" val="10064487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98104-6E58-4396-941B-BC676E7AD2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5d9e4c4ef4a6a"/>
          <a:stretch xmlns:a="http://schemas.openxmlformats.org/drawingml/2006/main"/>
        </p:blipFill>
        <p:spPr>
          <a:xfrm xmlns:a="http://schemas.openxmlformats.org/drawingml/2006/main">
            <a:off x="685800" y="1554480"/>
            <a:ext cx="7863840" cy="2490216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Offsets deformable convolution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915400" y="1645920"/>
            <a:ext cx="25877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Нулевые offsets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915400" y="210312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8915400" y="2880360"/>
            <a:ext cx="25877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После обучения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8915400" y="3337560"/>
            <a:ext cx="258775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смещения зависят от позиции</a:t>
            </a:r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685800" y="4617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685800" y="493776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Цветовые шкалы различаются. Сравниваем порядок величин и структуру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85800" y="544068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При нулевых offsets DCNv1 совпадает с обычной свёрткой</a:t>
            </a:r>
          </a:p>
        </p:txBody>
      </p:sp>
    </p:spTree>
    <p:extLst>
      <p:ext uri="{BB962C8B-B14F-4D97-AF65-F5344CB8AC3E}">
        <p14:creationId xmlns:p14="http://schemas.microsoft.com/office/powerpoint/2010/main" val="12934597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Когда применять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 xmlns:a="http://schemas.openxmlformats.org/drawingml/2006/main">
        <p:nvSpPr>
          <p:cNvPr id="5" name="Rounded Rectangle 4"/>
          <p:cNvSpPr/>
          <p:nvPr/>
        </p:nvSpPr>
        <p:spPr>
          <a:xfrm>
            <a:off x="685800" y="1508760"/>
            <a:ext cx="137160" cy="731520"/>
          </a:xfrm>
          <a:prstGeom prst="roundRect">
            <a:avLst>
              <a:gd name="adj" fmla="val 36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1097280" y="1508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3931920" y="1508760"/>
            <a:ext cx="7571232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надёжный baseline</a:t>
            </a:r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097280" y="2345436"/>
            <a:ext cx="1040587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ounded Rectangle 8"/>
          <p:cNvSpPr/>
          <p:nvPr/>
        </p:nvSpPr>
        <p:spPr>
          <a:xfrm>
            <a:off x="685800" y="2468880"/>
            <a:ext cx="137160" cy="731520"/>
          </a:xfrm>
          <a:prstGeom prst="roundRect">
            <a:avLst>
              <a:gd name="adj" fmla="val 36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1097280" y="24688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3931920" y="2468880"/>
            <a:ext cx="7571232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нужен больший контекст при том же разрешении</a:t>
            </a:r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097280" y="3305556"/>
            <a:ext cx="1040587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685800" y="3429000"/>
            <a:ext cx="137160" cy="731520"/>
          </a:xfrm>
          <a:prstGeom prst="roundRect">
            <a:avLst>
              <a:gd name="adj" fmla="val 36000"/>
            </a:avLst>
          </a:prstGeom>
          <a:solidFill>
            <a:srgbClr val="0F9D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7280" y="34290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3931920" y="3429000"/>
            <a:ext cx="7571232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важны память и число вычислений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097280" y="4265676"/>
            <a:ext cx="1040587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ounded Rectangle 16"/>
          <p:cNvSpPr/>
          <p:nvPr/>
        </p:nvSpPr>
        <p:spPr>
          <a:xfrm>
            <a:off x="685800" y="4389120"/>
            <a:ext cx="137160" cy="731520"/>
          </a:xfrm>
          <a:prstGeom prst="roundRect">
            <a:avLst>
              <a:gd name="adj" fmla="val 36000"/>
            </a:avLst>
          </a:prstGeom>
          <a:solidFill>
            <a:srgbClr val="E76F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1097280" y="43891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3931920" y="4389120"/>
            <a:ext cx="7571232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объекты меняют форму и положение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Оператор выбирают по ограничению задачи, а не по одной метрике</a:t>
            </a:r>
          </a:p>
        </p:txBody>
      </p:sp>
    </p:spTree>
    <p:extLst>
      <p:ext uri="{BB962C8B-B14F-4D97-AF65-F5344CB8AC3E}">
        <p14:creationId xmlns:p14="http://schemas.microsoft.com/office/powerpoint/2010/main" val="13552448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Выводы и ограничения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 xmlns:a="http://schemas.openxmlformats.org/drawingml/2006/main">
        <p:nvSpPr>
          <p:cNvPr id="5" name="Rounded Rectangle 4"/>
          <p:cNvSpPr/>
          <p:nvPr/>
        </p:nvSpPr>
        <p:spPr>
          <a:xfrm>
            <a:off x="685800" y="1554480"/>
            <a:ext cx="137160" cy="868680"/>
          </a:xfrm>
          <a:prstGeom prst="roundRect">
            <a:avLst>
              <a:gd name="adj" fmla="val 36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1051560" y="155448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качество как у обычной 3×3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685800" y="2697480"/>
            <a:ext cx="137160" cy="868680"/>
          </a:xfrm>
          <a:prstGeom prst="roundRect">
            <a:avLst>
              <a:gd name="adj" fmla="val 36000"/>
            </a:avLst>
          </a:prstGeom>
          <a:solidFill>
            <a:srgbClr val="0F9D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1051560" y="269748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−84,4% MACs, но −8,98 п.п. точности</a:t>
            </a:r>
          </a:p>
        </p:txBody>
      </p:sp>
      <p:sp xmlns:a="http://schemas.openxmlformats.org/drawingml/2006/main">
        <p:nvSpPr>
          <p:cNvPr id="9" name="Rounded Rectangle 8"/>
          <p:cNvSpPr/>
          <p:nvPr/>
        </p:nvSpPr>
        <p:spPr>
          <a:xfrm>
            <a:off x="685800" y="3840480"/>
            <a:ext cx="137160" cy="868680"/>
          </a:xfrm>
          <a:prstGeom prst="roundRect">
            <a:avLst>
              <a:gd name="adj" fmla="val 36000"/>
            </a:avLst>
          </a:prstGeom>
          <a:solidFill>
            <a:srgbClr val="E76F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1051560" y="384048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лучший результат, но дороже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6089904" y="1508760"/>
            <a:ext cx="18288" cy="3291840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6492240" y="1508760"/>
            <a:ext cx="501091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6492240" y="2148840"/>
            <a:ext cx="5010912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74320" indent="-274320">
              <a:spcAft>
                <a:spcPts val="800"/>
              </a:spcAft>
              <a:buClr>
                <a:srgbClr val="596273"/>
              </a:buClr>
              <a:buFont typeface="Arial"/>
              <a:buChar char="•"/>
            </a:pPr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seed</a:t>
            </a:r>
          </a:p>
          <a:p>
            <a:pPr algn="l" marL="274320" indent="-274320">
              <a:spcAft>
                <a:spcPts val="800"/>
              </a:spcAft>
              <a:buClr>
                <a:srgbClr val="596273"/>
              </a:buClr>
              <a:buFont typeface="Arial"/>
              <a:buChar char="•"/>
            </a:pPr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Нет доверительного интервала</a:t>
            </a:r>
          </a:p>
          <a:p>
            <a:pPr algn="l" marL="274320" indent="-274320">
              <a:spcAft>
                <a:spcPts val="800"/>
              </a:spcAft>
              <a:buClr>
                <a:srgbClr val="596273"/>
              </a:buClr>
              <a:buFont typeface="Arial"/>
              <a:buChar char="•"/>
            </a:pPr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Классификация 32×32</a:t>
            </a:r>
          </a:p>
          <a:p>
            <a:pPr algn="l" marL="274320" indent="-274320">
              <a:spcAft>
                <a:spcPts val="800"/>
              </a:spcAft>
              <a:buClr>
                <a:srgbClr val="596273"/>
              </a:buClr>
              <a:buFont typeface="Arial"/>
              <a:buChar char="•"/>
            </a:pPr>
            <a:r>
              <a:rPr sz="2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Прямая замена операторов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Следующий шаг: несколько seed и semantic segmentation</a:t>
            </a:r>
          </a:p>
        </p:txBody>
      </p:sp>
    </p:spTree>
    <p:extLst>
      <p:ext uri="{BB962C8B-B14F-4D97-AF65-F5344CB8AC3E}">
        <p14:creationId xmlns:p14="http://schemas.microsoft.com/office/powerpoint/2010/main" val="8730089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Источники и проект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685800" y="1508760"/>
            <a:ext cx="10817352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Yu, Koltun. Dilated Convolutions. 2015. arxiv.org/abs/1511.07122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Howard et al. MobileNets. 2017. arxiv.org/abs/1704.04861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Dai et al. Deformable Convolutional Networks. 2017. arxiv.org/abs/1703.06211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Krizhevsky. CIFAR-10. 2009. cs.toronto.edu/~kriz/cifar.html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PyTorch Conv2d. docs.pytorch.org/docs/stable/generated/torch.nn.Conv2d.html</a:t>
            </a:r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685800" y="434340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685800" y="4617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Код, результаты и презентация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685800" y="51206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github.com/grilzzz/conv_presentation</a:t>
            </a:r>
          </a:p>
        </p:txBody>
      </p:sp>
    </p:spTree>
    <p:extLst>
      <p:ext uri="{BB962C8B-B14F-4D97-AF65-F5344CB8AC3E}">
        <p14:creationId xmlns:p14="http://schemas.microsoft.com/office/powerpoint/2010/main" val="2013277602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Точность и вычисления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71632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5895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1463040"/>
            <a:ext cx="30449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>
                <a:solidFill>
                  <a:srgbClr val="0F9D8A"/>
                </a:solidFill>
                <a:latin typeface="Arial"/>
                <a:ea typeface="Arial"/>
                <a:cs typeface="Arial"/>
              </a:rPr>
              <a:t>Depthwise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92024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Максимальная экономия, но −8,98 п.п.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2926080"/>
            <a:ext cx="30449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3063240"/>
            <a:ext cx="30449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Dilated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52044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−0,12 п.п. при тех же параметрах и MACs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4526280"/>
            <a:ext cx="3044952" cy="18288"/>
          </a:xfrm>
          <a:prstGeom prst="rect">
            <a:avLst/>
          </a:prstGeom>
          <a:solidFill>
            <a:srgbClr val="E5E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663440"/>
            <a:ext cx="304495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12064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Лучшее качество, но самый дорогой оператор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2026-10-09T11:36:23.1950000Z</dcterms:created>
  <dcterms:modified xsi:type="dcterms:W3CDTF">2026-10-09T11:36:23.1950000Z</dcterms:modified>
</coreProperties>
</file>